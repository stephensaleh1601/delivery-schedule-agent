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441139f5d2429d" /><Relationship Type="http://schemas.openxmlformats.org/officeDocument/2006/relationships/extended-properties" Target="/docProps/app.xml" Id="R1a972673fb1e4884" /><Relationship Type="http://schemas.openxmlformats.org/officeDocument/2006/relationships/officeDocument" Target="/ppt/presentation.xml" Id="R5c5956fe0cb945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0241880cb945ce"/>
  </p:sldMasterIdLst>
  <p:notesMasterIdLst>
    <p:notesMasterId xmlns:r="http://schemas.openxmlformats.org/officeDocument/2006/relationships" r:id="Ra6a5c0110ceb4100"/>
  </p:notesMasterIdLst>
  <p:sldIdLst>
    <p:sldId xmlns:r="http://schemas.openxmlformats.org/officeDocument/2006/relationships" id="256" r:id="Rf8650f1aac3f48a9"/>
    <p:sldId xmlns:r="http://schemas.openxmlformats.org/officeDocument/2006/relationships" id="257" r:id="Rc3b731b221ba4248"/>
    <p:sldId xmlns:r="http://schemas.openxmlformats.org/officeDocument/2006/relationships" id="258" r:id="Rd04f8120db9043c1"/>
    <p:sldId xmlns:r="http://schemas.openxmlformats.org/officeDocument/2006/relationships" id="259" r:id="R5b56b7f857c04ae1"/>
    <p:sldId xmlns:r="http://schemas.openxmlformats.org/officeDocument/2006/relationships" id="260" r:id="R1459ad8981ab41e2"/>
    <p:sldId xmlns:r="http://schemas.openxmlformats.org/officeDocument/2006/relationships" id="261" r:id="Rd978c70517b34e8c"/>
    <p:sldId xmlns:r="http://schemas.openxmlformats.org/officeDocument/2006/relationships" id="262" r:id="R351c0c49b8514a99"/>
    <p:sldId xmlns:r="http://schemas.openxmlformats.org/officeDocument/2006/relationships" id="263" r:id="Rfe2b626b2d2e4911"/>
    <p:sldId xmlns:r="http://schemas.openxmlformats.org/officeDocument/2006/relationships" id="264" r:id="Ra4cd90dd594840cb"/>
    <p:sldId xmlns:r="http://schemas.openxmlformats.org/officeDocument/2006/relationships" id="265" r:id="R3242f826fd7e4ca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7cbc642b73430c" /><Relationship Type="http://schemas.openxmlformats.org/officeDocument/2006/relationships/slideMaster" Target="/ppt/slideMasters/slideMaster1.xml" Id="R6c0241880cb945ce" /><Relationship Type="http://schemas.openxmlformats.org/officeDocument/2006/relationships/notesMaster" Target="/ppt/notesMasters/notesMaster1.xml" Id="Ra6a5c0110ceb4100" /><Relationship Type="http://schemas.openxmlformats.org/officeDocument/2006/relationships/presProps" Target="/ppt/presProps.xml" Id="Racd81214acf641e5" /><Relationship Type="http://schemas.openxmlformats.org/officeDocument/2006/relationships/tableStyles" Target="/ppt/tableStyles.xml" Id="R594c12134e184b7c" /><Relationship Type="http://schemas.openxmlformats.org/officeDocument/2006/relationships/slide" Target="/ppt/slides/slide1.xml" Id="Rf8650f1aac3f48a9" /><Relationship Type="http://schemas.openxmlformats.org/officeDocument/2006/relationships/slide" Target="/ppt/slides/slide2.xml" Id="Rc3b731b221ba4248" /><Relationship Type="http://schemas.openxmlformats.org/officeDocument/2006/relationships/slide" Target="/ppt/slides/slide3.xml" Id="Rd04f8120db9043c1" /><Relationship Type="http://schemas.openxmlformats.org/officeDocument/2006/relationships/slide" Target="/ppt/slides/slide4.xml" Id="R5b56b7f857c04ae1" /><Relationship Type="http://schemas.openxmlformats.org/officeDocument/2006/relationships/slide" Target="/ppt/slides/slide5.xml" Id="R1459ad8981ab41e2" /><Relationship Type="http://schemas.openxmlformats.org/officeDocument/2006/relationships/slide" Target="/ppt/slides/slide6.xml" Id="Rd978c70517b34e8c" /><Relationship Type="http://schemas.openxmlformats.org/officeDocument/2006/relationships/slide" Target="/ppt/slides/slide7.xml" Id="R351c0c49b8514a99" /><Relationship Type="http://schemas.openxmlformats.org/officeDocument/2006/relationships/slide" Target="/ppt/slides/slide8.xml" Id="Rfe2b626b2d2e4911" /><Relationship Type="http://schemas.openxmlformats.org/officeDocument/2006/relationships/slide" Target="/ppt/slides/slide9.xml" Id="Ra4cd90dd594840cb" /><Relationship Type="http://schemas.openxmlformats.org/officeDocument/2006/relationships/slide" Target="/ppt/slides/slide10.xml" Id="R3242f826fd7e4c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e4a720fc0e4f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acff3ab81f40d0" /><Relationship Type="http://schemas.openxmlformats.org/officeDocument/2006/relationships/notesMaster" Target="/ppt/notesMasters/notesMaster1.xml" Id="R70e61b2a765e4e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7af6f2ae9e4113" /><Relationship Type="http://schemas.openxmlformats.org/officeDocument/2006/relationships/notesMaster" Target="/ppt/notesMasters/notesMaster1.xml" Id="Rc32c76fdb7804b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86659618164518" /><Relationship Type="http://schemas.openxmlformats.org/officeDocument/2006/relationships/notesMaster" Target="/ppt/notesMasters/notesMaster1.xml" Id="Rf359bb3350be4a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3a3ae59be84384" /><Relationship Type="http://schemas.openxmlformats.org/officeDocument/2006/relationships/notesMaster" Target="/ppt/notesMasters/notesMaster1.xml" Id="R11041971375546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dc7c1502a34865" /><Relationship Type="http://schemas.openxmlformats.org/officeDocument/2006/relationships/notesMaster" Target="/ppt/notesMasters/notesMaster1.xml" Id="Re1e7c4a4c17045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9cf10f9df1406e" /><Relationship Type="http://schemas.openxmlformats.org/officeDocument/2006/relationships/notesMaster" Target="/ppt/notesMasters/notesMaster1.xml" Id="R9922fae55c8e4dc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c27b70e83649c9" /><Relationship Type="http://schemas.openxmlformats.org/officeDocument/2006/relationships/notesMaster" Target="/ppt/notesMasters/notesMaster1.xml" Id="R0438b3e1a0bd42e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df6a81155a4dae" /><Relationship Type="http://schemas.openxmlformats.org/officeDocument/2006/relationships/notesMaster" Target="/ppt/notesMasters/notesMaster1.xml" Id="R20b03bdaad0d43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b4233dde8944e23" /><Relationship Type="http://schemas.openxmlformats.org/officeDocument/2006/relationships/notesMaster" Target="/ppt/notesMasters/notesMaster1.xml" Id="R8459b0c890c14b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b402bcc370349a7" /><Relationship Type="http://schemas.openxmlformats.org/officeDocument/2006/relationships/notesMaster" Target="/ppt/notesMasters/notesMaster1.xml" Id="R4bc36278a91841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outcome, then demo immediately.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199131460342b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26d279b8bc43b4" /><Relationship Type="http://schemas.openxmlformats.org/officeDocument/2006/relationships/slideLayout" Target="/ppt/slideLayouts/slideLayout1.xml" Id="R17489961a6194a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489961a6194a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5cb08625047e5" /><Relationship Type="http://schemas.openxmlformats.org/officeDocument/2006/relationships/image" Target="/ppt/media/image.png" Id="R432ccac580bb4be8" /><Relationship Type="http://schemas.openxmlformats.org/officeDocument/2006/relationships/notesSlide" Target="/ppt/notesSlides/notesSlide1.xml" Id="R5e54d41446f949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f5fb1361624470" /><Relationship Type="http://schemas.openxmlformats.org/officeDocument/2006/relationships/notesSlide" Target="/ppt/notesSlides/notesSlide2.xml" Id="Ra245b1d7693048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ea21d8100c448d" /><Relationship Type="http://schemas.openxmlformats.org/officeDocument/2006/relationships/notesSlide" Target="/ppt/notesSlides/notesSlide3.xml" Id="Rd285e649275246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4717e5a0e4af1" /><Relationship Type="http://schemas.openxmlformats.org/officeDocument/2006/relationships/notesSlide" Target="/ppt/notesSlides/notesSlide4.xml" Id="Rf3c1871af5be49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35a4e0d894495" /><Relationship Type="http://schemas.openxmlformats.org/officeDocument/2006/relationships/notesSlide" Target="/ppt/notesSlides/notesSlide5.xml" Id="R49ba8f55ae234a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ddb1a54b34e55" /><Relationship Type="http://schemas.openxmlformats.org/officeDocument/2006/relationships/image" Target="/ppt/media/image2.png" Id="R5880a9dbd61f40f4" /><Relationship Type="http://schemas.openxmlformats.org/officeDocument/2006/relationships/notesSlide" Target="/ppt/notesSlides/notesSlide6.xml" Id="R95b10122e91242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c17ff231544c91" /><Relationship Type="http://schemas.openxmlformats.org/officeDocument/2006/relationships/image" Target="/ppt/media/image3.png" Id="R155cf3ddc6ff4e8d" /><Relationship Type="http://schemas.openxmlformats.org/officeDocument/2006/relationships/image" Target="/ppt/media/image4.png" Id="Ra121b92653104490" /><Relationship Type="http://schemas.openxmlformats.org/officeDocument/2006/relationships/notesSlide" Target="/ppt/notesSlides/notesSlide7.xml" Id="R7872d5f1f3204e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9472379ba4bd8" /><Relationship Type="http://schemas.openxmlformats.org/officeDocument/2006/relationships/notesSlide" Target="/ppt/notesSlides/notesSlide8.xml" Id="R5a8a8e138c6e4c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5889a0c8d43bb" /><Relationship Type="http://schemas.openxmlformats.org/officeDocument/2006/relationships/notesSlide" Target="/ppt/notesSlides/notesSlide9.xml" Id="Ra5e53712c987470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d523f057f410a" /><Relationship Type="http://schemas.openxmlformats.org/officeDocument/2006/relationships/notesSlide" Target="/ppt/notesSlides/notesSlide10.xml" Id="R871ddf393f1840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5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7CF864-B889-4066-B1D8-5604AAC3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3E4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80AEC8-86E8-451F-A1EF-066F6C23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DF2E9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DF2E9"/>
                </a:solidFill>
                <a:latin typeface="Arial"/>
                <a:ea typeface="Arial"/>
                <a:cs typeface="Arial"/>
              </a:rPr>
              <a:t>IGNITE AGENTIC AI HACKATHON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AD3B20-736B-473D-814F-9E40628B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438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276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Dispatch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F21C21-4B38-4E94-8772-46628738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9530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delivery coordinator that offers only times the route can keep.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D67484-A30E-49A1-B936-32EA3809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7D6D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7D6DA"/>
                </a:solidFill>
                <a:latin typeface="Arial"/>
                <a:ea typeface="Arial"/>
                <a:cs typeface="Arial"/>
              </a:rPr>
              <a:t>Customer says no. The agent replans, asks again, and changes nothing without consent.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2ccac580bb4be8"/>
          <a:srcRect xmlns:a="http://schemas.openxmlformats.org/drawingml/2006/main" l="18966" t="0" r="1896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609600"/>
            <a:ext cx="5486400" cy="5524500"/>
          </a:xfrm>
          <a:prstGeom xmlns:a="http://schemas.openxmlformats.org/drawingml/2006/main" prst="roundRect">
            <a:avLst>
              <a:gd name="adj" fmla="val 2083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442761-6D4D-43FD-B6E0-F6C2748B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DF2E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DF2E9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</p:spTree>
    <p:extLst>
      <p:ext uri="{BB962C8B-B14F-4D97-AF65-F5344CB8AC3E}">
        <p14:creationId xmlns:p14="http://schemas.microsoft.com/office/powerpoint/2010/main" val="17861973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DA52E7-7C4F-4D4A-9C74-DACFA949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THE BOTTLENECK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F22E51-E18B-4AC2-801B-043D41C1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The hard part is not finding the road.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944D3-453B-4EF4-A77A-E698020F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F6687"/>
                </a:solidFill>
                <a:latin typeface="Arial"/>
                <a:ea typeface="Arial"/>
                <a:cs typeface="Arial"/>
              </a:rPr>
              <a:t>It is getting a customer-approved time that still fits the route.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818280-F707-45A0-A989-A935BF81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3333750" cy="2905125"/>
          </a:xfrm>
          <a:prstGeom xmlns:a="http://schemas.openxmlformats.org/drawingml/2006/main" prst="roundRect">
            <a:avLst>
              <a:gd name="adj" fmla="val 39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932C7-B3FF-4D50-BFB3-E62ED608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CUSTOMER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6FEC6E-B4B9-4D77-A82E-7C8B0F79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43225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5331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“When can you be home?”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3817EF-8BC9-4EF1-9BF5-363C3779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Fresh food cannot be left at the door, so every delivery needs an agreed recipient window.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ECE26C-52CA-474A-91E3-20C12612B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62200"/>
            <a:ext cx="3333750" cy="2905125"/>
          </a:xfrm>
          <a:prstGeom xmlns:a="http://schemas.openxmlformats.org/drawingml/2006/main" prst="roundRect">
            <a:avLst>
              <a:gd name="adj" fmla="val 39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6FA34-01E6-47DD-985D-CD3F07BF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5908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767CD-B9F5-43AB-891A-1D7A5252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943225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3835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“Can the route keep it?”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425DC-BE11-4896-ABE5-DBA947D9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714750"/>
            <a:ext cx="2619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Every answer changes the day. A rejection means checking the route again without breaking confirmed promises.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33FF48-FD7E-4EA8-8749-B843EBD1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62200"/>
            <a:ext cx="3333750" cy="2905125"/>
          </a:xfrm>
          <a:prstGeom xmlns:a="http://schemas.openxmlformats.org/drawingml/2006/main" prst="roundRect">
            <a:avLst>
              <a:gd name="adj" fmla="val 3934"/>
            </a:avLst>
          </a:prstGeom>
          <a:solidFill xmlns:a="http://schemas.openxmlformats.org/drawingml/2006/main">
            <a:srgbClr val="DDF2E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79DD31-F42F-4365-B206-5ED550DC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90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INTERVIEW SIGNAL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816294-21A2-48BE-B532-6406ADBB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4800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30–40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D14CB-613C-4631-8598-4E489DF3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590925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deliveries per day, reported in our Floof.sg interview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506DCD-723E-400F-A734-9F9348FC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1005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That is too many availability chats to coordinate by memory.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668574-5E65-431E-A9E3-C1DCDD7B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Source: Floof.sg interview, 4 Sep. Prototype routes and windows are synthetic.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5084AF-8E3E-4DB0-A573-159CD75E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DISPATCH  ·  TEAM MAJESTIC FIGHTERS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E8320F-B3D9-4CAF-B859-25C84288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458779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73ACF6-3A50-4100-A564-83622BF1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WHY EXISTING TOOLS STOP SHORT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1B47C-4C22-4403-A528-3A1E0FF1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Maps solves distance. Calendar stores a promise.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0D45ED-5BFF-4867-B4F6-874C3EDC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F6687"/>
                </a:solidFill>
                <a:latin typeface="Arial"/>
                <a:ea typeface="Arial"/>
                <a:cs typeface="Arial"/>
              </a:rPr>
              <a:t>Neither owns the negotiation loop between them.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F70228-D1C4-4E12-ADF1-1245F447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5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85804-AE78-4B8A-9FDE-A54F8B03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Google Maps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1FEAB9-26B3-4D78-8F38-BB54A546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5146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Routes addresses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ABEE83-2701-4539-AE73-A53A2364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765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Does not ask customers or preserve consent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BE6D31-88E1-4E4F-8CD2-151B248D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5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6E12BF-7440-4214-82AB-A6B189F9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Calendar / ERP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664625-76D9-44FA-9EE6-9C06CCDA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38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Stores a slot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C8E8CD-03B8-49BA-A8DD-B8DD7161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004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Does not prove the route can still make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3F475F-998A-48D9-838A-358E5BDF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53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DF2E9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95340-EC2E-4042-B157-591CC307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Dispatch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B67CFB-5871-4BC8-91D5-3FD8DE9B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62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Negotiates + verifies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077C4E-2185-4C79-8906-F3627C28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244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Acts, observes the reply, adapts, then publishes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84D0D5-D3C2-4442-B68F-D309E4FA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DISPATCH  ·  TEAM MAJESTIC FIGHTERS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EF84BE-B92E-453C-A626-DAA5214C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55924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F9EB3D-5161-4665-A9AE-BCF55422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CUSTOMER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869408-179B-4083-BB01-5A50EAAC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One message starts a controlled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D19E9E-F569-42C8-A0AF-058D0DF47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905000" cy="245745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3CDD3E-EDAA-4900-9C64-A349671D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68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C44D95-94C1-4701-B92A-0509A90E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BAA84-BF10-417A-9CE8-10B48819D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156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7863C3-6EDD-4BC6-B6E4-D377C798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1562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“Saturday morning works.”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DE5D1-3991-4160-A2EA-32998C32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12420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44769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BD5D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BD5D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AF44EE-D93D-431D-8F6B-8FEA1758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171700"/>
            <a:ext cx="1905000" cy="245745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83A7B1-A9EF-4A7A-9D77-924E54F7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622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5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3146BD-DC37-4176-9FEF-A29CCF08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193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285E3E-CDDA-402B-ADE9-D050EE61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14650"/>
            <a:ext cx="156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Prove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AD370F-6ECC-42D6-AB81-544EE79E9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543300"/>
            <a:ext cx="1562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Test every safe insertion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A937DF-71AD-4F8E-8289-32728B54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12420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44769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BD5D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BD5D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292BA1-BF4E-405B-91B4-27FC58C4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71700"/>
            <a:ext cx="1905000" cy="245745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1A2A5B-8FD5-4119-B512-4E42586A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3622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58128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2D7E15-EED8-411D-8D71-ACD9CC5D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C1FB8-73D7-4CD4-B9AB-BF6538A1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914650"/>
            <a:ext cx="156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81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58128"/>
                </a:solidFill>
                <a:latin typeface="Arial"/>
                <a:ea typeface="Arial"/>
                <a:cs typeface="Arial"/>
              </a:rPr>
              <a:t>Offer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00E855-F101-4FF9-AE92-9825F11C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543300"/>
            <a:ext cx="1562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Only route-feasible windows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9350B4-1CE3-4EE0-8167-4A3B4145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12420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44769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BD5D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BD5D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E3DD02-0A13-4CAA-B82D-930D2393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71700"/>
            <a:ext cx="1905000" cy="245745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30A929-650A-4E7A-9EA3-E5061462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622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4F4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86EF10-F0DB-41E5-81D3-D95F36FC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193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99D54A-32DB-4EA9-9D4D-5321C369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14650"/>
            <a:ext cx="156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4F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4F43"/>
                </a:solidFill>
                <a:latin typeface="Arial"/>
                <a:ea typeface="Arial"/>
                <a:cs typeface="Arial"/>
              </a:rPr>
              <a:t>Adapt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56CBD0-F97B-4B94-9BAF-82437051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43300"/>
            <a:ext cx="1562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Replan after rejection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31E46B-F1CB-478A-AEF0-0032B4E1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12420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44769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BD5D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BD5D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0C666E-1C77-481E-8D92-0C44BE326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171700"/>
            <a:ext cx="1905000" cy="245745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FC354E-D0AB-4676-9F9F-31B705B3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62200"/>
            <a:ext cx="400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5B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2A33FC-97CC-4AD7-9B5B-02BE8A1A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193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1DFB1D-0F42-4A73-896B-683ABE5C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14650"/>
            <a:ext cx="156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Lock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B45F73-556A-4DB0-93AA-F16CBEBD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43300"/>
            <a:ext cx="1562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Publish only after consent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5A5666-4F70-4386-885C-E999C484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2E9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50F7BE-E58F-40D0-AAEF-48E518A3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05425"/>
            <a:ext cx="1581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No silent moves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B067CF-EEB9-49E0-8E0E-2D016D08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38750"/>
            <a:ext cx="2190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2E9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906177-AC2D-46E5-AAF5-E88182C9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305425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One message → one run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F8D1DA-937A-4655-A01C-2E61CCE6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238750"/>
            <a:ext cx="2190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2E9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30BBA9-A00B-4245-9D92-13E7B8B3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305425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Every action traceable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5CD24B-880F-49A5-AEEF-8B7D79E4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DISPATCH  ·  TEAM MAJESTIC FIGHTERS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832BBD-11D1-44EF-9D70-A5FB21E4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442639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25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8DD7C0-AF2C-4CDC-B96E-FA7EE4B1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DF2E9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DF2E9"/>
                </a:solidFill>
                <a:latin typeface="Arial"/>
                <a:ea typeface="Arial"/>
                <a:cs typeface="Arial"/>
              </a:rPr>
              <a:t>WHY IT IS AGENTIC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1295C5-D2A3-4882-9792-4611C2A0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optimiser calculates. The agent decides what happens next.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258C93-388E-4B36-9414-B2DC18A8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43E4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DA9304-926F-4874-A5D7-38CF9620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95575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UNDERSTAND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FF8A16-3BF5-4CFA-8AED-E072C911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95625"/>
            <a:ext cx="165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Customer intent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4CA3E-C8EA-4E61-8FFA-E6634735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7650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43E4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AA056D-7A59-4398-9F91-F85A64BD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95575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CHOOSE TOOL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ECF07D-43E4-4A1E-BF62-AB73AF2E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95625"/>
            <a:ext cx="165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should I do next?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35DE2-FDA3-4492-B9BE-4BB3446D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7650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43E4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CA5F3F-FC94-4B72-8661-D5A5A2FE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95575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5812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58128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DE5A4C-D5CC-4C52-830C-94A546F7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095625"/>
            <a:ext cx="165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 + policy result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FB9500-5476-4F70-8F6E-291EC862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76500"/>
            <a:ext cx="2000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43E4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69476-C82A-4423-951F-985316C5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95575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4F4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84F43"/>
                </a:solidFill>
                <a:latin typeface="Arial"/>
                <a:ea typeface="Arial"/>
                <a:cs typeface="Arial"/>
              </a:rPr>
              <a:t>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F7276D-9D74-4997-BB0B-1D6A351F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95625"/>
            <a:ext cx="1657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Message / confirm / escalate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E66B88-99F3-4B7A-BEF5-1E8A7918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908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8373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DF2E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DF2E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73CFC4-9BDA-4788-9A3C-234AC07A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9908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8373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DF2E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DF2E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049C53-EEDC-4F46-9E59-7CF1131A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9908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8373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DF2E9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DF2E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1DA951-FF28-4122-9E4A-118FF370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429125"/>
            <a:ext cx="552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DF2E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DF2E9"/>
                </a:solidFill>
                <a:latin typeface="Arial"/>
                <a:ea typeface="Arial"/>
                <a:cs typeface="Arial"/>
              </a:rPr>
              <a:t>↺ independent customer reply updates the constraints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8F183A-F694-4095-9940-EA924C2B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7650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E6E1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41D26-5071-48CB-B453-08ED46B4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543175"/>
            <a:ext cx="129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84F4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84F43"/>
                </a:solidFill>
                <a:latin typeface="Arial"/>
                <a:ea typeface="Arial"/>
                <a:cs typeface="Arial"/>
              </a:rPr>
              <a:t>10-step cap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4114B7-C80A-418E-B581-4E42EF56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7180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2E9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41F897-BB82-4279-8437-C1DF1B6D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038475"/>
            <a:ext cx="129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Human escalation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F78BA8-776B-4F06-8C04-397D55A4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6710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EEF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2B5F85-7B36-46D7-9B2B-F7F4C442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533775"/>
            <a:ext cx="129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Typed tool results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689BE0-DEBB-417B-B31C-E1D57EE3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29250"/>
            <a:ext cx="962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7D6D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7D6DA"/>
                </a:solidFill>
                <a:latin typeface="Arial"/>
                <a:ea typeface="Arial"/>
                <a:cs typeface="Arial"/>
              </a:rPr>
              <a:t>The language model may choose a legal action. Deterministic code owns availability, route feasibility, consent and persistence.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71BA1D-1FF4-4EB0-B9DE-21BA7EF6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DISPATCH  ·  TEAM MAJESTIC FIGHTERS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AEA728-FFE1-48FF-8E7A-A33E36D55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79252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CBFD00-851E-4A13-A3EF-97D57B22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CBD06D-8E84-459E-A260-2107B524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Wow #1 — every offer carries route evidence.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80a9dbd61f40f4"/>
          <a:srcRect xmlns:a="http://schemas.openxmlformats.org/drawingml/2006/main" l="0" t="4633" r="0" b="46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76400"/>
            <a:ext cx="7524750" cy="4267200"/>
          </a:xfrm>
          <a:prstGeom xmlns:a="http://schemas.openxmlformats.org/drawingml/2006/main" prst="roundRect">
            <a:avLst>
              <a:gd name="adj" fmla="val 2679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7345BB-68B8-41A5-9BEB-8FE25308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676400"/>
            <a:ext cx="3086100" cy="42672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A31928-8936-48A1-9D0F-9570A9B9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WHAT THE JUDGE SEES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E5D4A1-57C2-47F4-A10E-98C6C3EE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003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80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A real customer message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0ABA4F-9C53-4295-9248-1966390A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765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C1A990-7D2A-4A3C-8F2E-9962A786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19450"/>
            <a:ext cx="2362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Insertion tested against the published route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9F3F23-CF80-4A12-A8D8-68058F9D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243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E1471E-1A20-4216-9C58-4B59276D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67200"/>
            <a:ext cx="2362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Only then is a window sent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5245D6-D01A-46D6-83D2-D9428226D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19700"/>
            <a:ext cx="2000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2E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193EA5-FB4C-4D63-AE93-D7D9215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86375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0 promises moved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3EB1ED-BA05-4062-9D06-A4E23081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DISPATCH  ·  TEAM MAJESTIC FIGHTERS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D71C5A-999D-42D9-85CC-23598254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874399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DCA2C3-E155-462A-95FE-D4823E76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E835A4-8534-40CD-806D-A4D62A86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Wow #2 and #3 — rejection becomes action; consent becomes a new route.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5cf3ddc6ff4e8d"/>
          <a:srcRect xmlns:a="http://schemas.openxmlformats.org/drawingml/2006/main" l="10174" t="0" r="1017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38300"/>
            <a:ext cx="521970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21b92653104490"/>
          <a:srcRect xmlns:a="http://schemas.openxmlformats.org/drawingml/2006/main" l="10174" t="0" r="1017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62700" y="1638300"/>
            <a:ext cx="521970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616FB-E107-41AC-9CC8-7C5D68E7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48350"/>
            <a:ext cx="2095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E6E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E87B05-ACBA-4395-9C5F-EEA03B0E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1502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84F4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84F43"/>
                </a:solidFill>
                <a:latin typeface="Arial"/>
                <a:ea typeface="Arial"/>
                <a:cs typeface="Arial"/>
              </a:rPr>
              <a:t>3 ranked alternatives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DE4B0-4162-403B-9A44-84080260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848350"/>
            <a:ext cx="2095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E6E1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90F45-E2D3-4328-9B11-363412CB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91502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84F4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84F43"/>
                </a:solidFill>
                <a:latin typeface="Arial"/>
                <a:ea typeface="Arial"/>
                <a:cs typeface="Arial"/>
              </a:rPr>
              <a:t>Rejected slot excluded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3E4B59-195E-413D-A139-B0E8789F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848350"/>
            <a:ext cx="2000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2E9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294F64-C88E-47E0-9E54-72B6F000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915025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Route v2 published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CA0205-B188-4BD9-8C99-A41ACF54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571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2E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AD80A8-1D54-4EE1-B452-A9A2BC5E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915025"/>
            <a:ext cx="2343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Existing promises moved: 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FD98DE-7717-49B0-890A-03F878EF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DISPATCH  ·  TEAM MAJESTIC FIGHTERS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D63DA8-8902-4C31-9C22-B3395DD1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284086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DAFB6D-B085-454E-AE2F-B230A34B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8128F2-0A26-443D-8BE3-7AE774D5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Sponsor technology is inside the decision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94264-9928-47A5-9741-904944C94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19050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C0BFE-E798-4A01-92ED-D90F1E5A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NEXT.JS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B21E30-A23D-4CB7-834F-6178667D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Customer + coordinator UI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523DD8-639F-48A5-8D0B-779123DA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09900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10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BD5D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BD5D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4DBCD7-C214-4B11-884B-4C96BCC7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324100"/>
            <a:ext cx="19050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CF7B3D-FDC1-4C93-BFA1-E9B87B5E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717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43E4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43E4B"/>
                </a:solidFill>
                <a:latin typeface="Arial"/>
                <a:ea typeface="Arial"/>
                <a:cs typeface="Arial"/>
              </a:rPr>
              <a:t>FASTAPI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A311ED-0032-42F0-BCFE-007CC862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670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881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One typed request boundary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6BEC2F-916D-41F6-A6CA-9103EA81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009900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10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BD5D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BD5D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E5DFF9-51B3-4029-9832-3E546B27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24100"/>
            <a:ext cx="19050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3CD646-70CD-4A77-9998-96201A4A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5717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LANGGRAPH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01CB19-40AF-4E4E-9640-1563A1D5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670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881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Bounded observe / decide / 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9972CB-365F-43B6-AC0B-165118CF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09900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10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BD5D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BD5D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4B3411-0A5D-4961-AFF0-A97CFA31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24100"/>
            <a:ext cx="19050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494F2D-012A-443A-B6CF-5484DCAC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717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58128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58128"/>
                </a:solidFill>
                <a:latin typeface="Arial"/>
                <a:ea typeface="Arial"/>
                <a:cs typeface="Arial"/>
              </a:rPr>
              <a:t>AWS BEDROCK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8FF2CE-8C10-4FB3-A4DA-3452A9F3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670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Intent + legal action choice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9A57D8-7E7C-472F-BEF8-2F27F2B5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09900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810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BD5D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BD5D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8C1141-2CAD-4075-BA90-4A9D5F80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24100"/>
            <a:ext cx="190500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E9665F-11F1-4A52-9CD8-91EE9145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717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4F4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84F43"/>
                </a:solidFill>
                <a:latin typeface="Arial"/>
                <a:ea typeface="Arial"/>
                <a:cs typeface="Arial"/>
              </a:rPr>
              <a:t>OR-TOOLS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CD18E9-CAD1-48D4-BC43-25731D91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067050"/>
            <a:ext cx="1562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Route feasibility truth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E8C315-6EDB-4A82-98CE-565E37B6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495800"/>
            <a:ext cx="6515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DF2E9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F0DB7E-DEA6-4932-88BD-24EC8DF9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053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PERSISTENT OPERATIONAL MEMORY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8BBD17-BEEF-461C-8EE1-4304CFA3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482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997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SQLite stores offers, consent, messages, tool traces and immutable route versions.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6814A2-31CD-4E3F-B8E7-9A19CC99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657850"/>
            <a:ext cx="651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AgentCore is the next deployment target; the agent boundary and trace model are already isolated for it.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0571EF-754D-4AD7-90C5-C4970933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DISPATCH  ·  TEAM MAJESTIC FIGHTERS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B00B34-7FCB-4244-B265-508038B9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345888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27435F-35D5-4C14-80BB-A2522B3B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MEASURED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F29DD4-5D09-4C21-B533-509B41D6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52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52E"/>
                </a:solidFill>
                <a:latin typeface="Arial"/>
                <a:ea typeface="Arial"/>
                <a:cs typeface="Arial"/>
              </a:rPr>
              <a:t>The demo is designed to survive a live judge.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75A6EB-D0B0-48AD-9AFE-8CB4A109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4574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5FC45-4CAD-4F37-A0B3-52DE3DBE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34A82-84D6-414E-BED5-09B697ED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90825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browser journeys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4740CF-FBCB-4EA2-B3EF-CA85F317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happy + difficult path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E0EB6B-0A6D-4AD9-A1BD-94F80CE6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00250"/>
            <a:ext cx="24574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27AF56-D2A3-4CEF-B90F-4008ECBC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479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568A59-AD5A-4133-9EF7-1FBE16C0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90825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fallback choices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39875C-589B-4854-BEDC-7C4334FA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2575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ranked by route impact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C52562-8B9E-45D5-B022-53197465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24574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DDF2E9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D67102-1099-498A-9C03-7EFF666F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479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1E3976-B796-4CC0-9B29-1FDE60A9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90825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promises moved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07FF0A-AEBA-4254-BB3C-66CF8450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575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enforced before an offer exists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1CFEAC-8C0A-4F7D-AF90-03F4A5D2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00250"/>
            <a:ext cx="24574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9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B18277-ACAD-4952-AD8A-1C523CFA8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479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F6687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F668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7A59A2-D945-4777-96A1-C4DA1CF4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90825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maximum steps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A9A8A2-886B-4CCC-9723-64A8AA26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575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bounded agent loop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34B41F-07D9-477E-9BA3-B68EAA61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106870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7252E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C55340-C4B2-4446-BC89-00669360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5295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7681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 checks the full Python suite, TypeScript, production build and Playwright demo flow on every pull request.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BCD86C-273B-4038-AA4B-1CC26210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43500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C7D6D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7D6DA"/>
                </a:solidFill>
                <a:latin typeface="Arial"/>
                <a:ea typeface="Arial"/>
                <a:cs typeface="Arial"/>
              </a:rPr>
              <a:t>Seeded demo data + deterministic fallback keep the story working if a live model or maps provider fails.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1AC0B0-06B1-495B-BD99-C5530152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DISPATCH  ·  TEAM MAJESTIC FIGHTERS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2AE02D-ECEF-4F19-A4A5-5993FA1E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8778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161979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6B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29F94B-11ED-481F-8F3C-A8F6E897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DF2E9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DF2E9"/>
                </a:solidFill>
                <a:latin typeface="Arial"/>
                <a:ea typeface="Arial"/>
                <a:cs typeface="Arial"/>
              </a:rPr>
              <a:t>DISPATCH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0ECB60-8DDD-42D9-9933-702090D6F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33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offered time is feasible.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141CF-CC1D-4F93-9CDB-47F67877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933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change is consented.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5C4AE8-4CA8-4B6C-95F5-E5971FC3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933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route is reproducible.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1A2821-8CFF-4D9D-B5AC-A8E07853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781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7252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38E579-CA90-4521-A685-E2E0E945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43450"/>
            <a:ext cx="7277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4617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Give coordinators their afternoon back—without asking customers to surrender control.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17E1B8-8520-4A9F-8A4C-12C98694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495800"/>
            <a:ext cx="2095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2E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341EE6-15FF-4EBA-9BF4-3490D871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624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6B5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6B5B"/>
                </a:solidFill>
                <a:latin typeface="Arial"/>
                <a:ea typeface="Arial"/>
                <a:cs typeface="Arial"/>
              </a:rPr>
              <a:t>LIVE DEMO 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EB689E-AE30-4815-8185-26E1E515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DF2E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DF2E9"/>
                </a:solidFill>
                <a:latin typeface="Arial"/>
                <a:ea typeface="Arial"/>
                <a:cs typeface="Arial"/>
              </a:rPr>
              <a:t>Team Majestic Fighters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BD899B-9022-4C5A-B218-FBE42A63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096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DDF2E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DF2E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321327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2026-09-06T10:20:33.5280000Z</dcterms:created>
  <dcterms:modified xsi:type="dcterms:W3CDTF">2026-09-06T10:20:33.5280000Z</dcterms:modified>
</coreProperties>
</file>