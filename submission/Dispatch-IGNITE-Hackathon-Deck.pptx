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d4a9d165df40ec" /><Relationship Type="http://schemas.openxmlformats.org/officeDocument/2006/relationships/extended-properties" Target="/docProps/app.xml" Id="R76100467d1964b53" /><Relationship Type="http://schemas.openxmlformats.org/officeDocument/2006/relationships/officeDocument" Target="/ppt/presentation.xml" Id="R0dc92b5097664a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eb2b921260482a"/>
  </p:sldMasterIdLst>
  <p:notesMasterIdLst>
    <p:notesMasterId xmlns:r="http://schemas.openxmlformats.org/officeDocument/2006/relationships" r:id="R306e777d3fd34d85"/>
  </p:notesMasterIdLst>
  <p:sldIdLst>
    <p:sldId xmlns:r="http://schemas.openxmlformats.org/officeDocument/2006/relationships" id="256" r:id="Rf779630832234367"/>
    <p:sldId xmlns:r="http://schemas.openxmlformats.org/officeDocument/2006/relationships" id="257" r:id="R739299bb70844904"/>
    <p:sldId xmlns:r="http://schemas.openxmlformats.org/officeDocument/2006/relationships" id="258" r:id="R4138c61ba19241cb"/>
    <p:sldId xmlns:r="http://schemas.openxmlformats.org/officeDocument/2006/relationships" id="259" r:id="R7cdaa96de6444552"/>
    <p:sldId xmlns:r="http://schemas.openxmlformats.org/officeDocument/2006/relationships" id="260" r:id="Rfa2dbdb8ea1644db"/>
    <p:sldId xmlns:r="http://schemas.openxmlformats.org/officeDocument/2006/relationships" id="261" r:id="R408cdc5523e548ae"/>
    <p:sldId xmlns:r="http://schemas.openxmlformats.org/officeDocument/2006/relationships" id="262" r:id="R0b829b3f9df443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d38ade2ded4c33" /><Relationship Type="http://schemas.openxmlformats.org/officeDocument/2006/relationships/slideMaster" Target="/ppt/slideMasters/slideMaster1.xml" Id="Rc1eb2b921260482a" /><Relationship Type="http://schemas.openxmlformats.org/officeDocument/2006/relationships/notesMaster" Target="/ppt/notesMasters/notesMaster1.xml" Id="R306e777d3fd34d85" /><Relationship Type="http://schemas.openxmlformats.org/officeDocument/2006/relationships/presProps" Target="/ppt/presProps.xml" Id="Rfbe5b2d034b64aee" /><Relationship Type="http://schemas.openxmlformats.org/officeDocument/2006/relationships/tableStyles" Target="/ppt/tableStyles.xml" Id="Re0acb891953f4628" /><Relationship Type="http://schemas.openxmlformats.org/officeDocument/2006/relationships/slide" Target="/ppt/slides/slide1.xml" Id="Rf779630832234367" /><Relationship Type="http://schemas.openxmlformats.org/officeDocument/2006/relationships/slide" Target="/ppt/slides/slide2.xml" Id="R739299bb70844904" /><Relationship Type="http://schemas.openxmlformats.org/officeDocument/2006/relationships/slide" Target="/ppt/slides/slide3.xml" Id="R4138c61ba19241cb" /><Relationship Type="http://schemas.openxmlformats.org/officeDocument/2006/relationships/slide" Target="/ppt/slides/slide4.xml" Id="R7cdaa96de6444552" /><Relationship Type="http://schemas.openxmlformats.org/officeDocument/2006/relationships/slide" Target="/ppt/slides/slide5.xml" Id="Rfa2dbdb8ea1644db" /><Relationship Type="http://schemas.openxmlformats.org/officeDocument/2006/relationships/slide" Target="/ppt/slides/slide6.xml" Id="R408cdc5523e548ae" /><Relationship Type="http://schemas.openxmlformats.org/officeDocument/2006/relationships/slide" Target="/ppt/slides/slide7.xml" Id="R0b829b3f9df443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0a5587ff7947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7e288cf5854736" /><Relationship Type="http://schemas.openxmlformats.org/officeDocument/2006/relationships/notesMaster" Target="/ppt/notesMasters/notesMaster1.xml" Id="R06a2d293fb024b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4b2de589e94f21" /><Relationship Type="http://schemas.openxmlformats.org/officeDocument/2006/relationships/notesMaster" Target="/ppt/notesMasters/notesMaster1.xml" Id="R02def8364b5a4c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7b5fa6725e4846" /><Relationship Type="http://schemas.openxmlformats.org/officeDocument/2006/relationships/notesMaster" Target="/ppt/notesMasters/notesMaster1.xml" Id="Rb5c83c4511c34b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d40829b755480d" /><Relationship Type="http://schemas.openxmlformats.org/officeDocument/2006/relationships/notesMaster" Target="/ppt/notesMasters/notesMaster1.xml" Id="R2b61b20ab7334f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c721d8b8a84958" /><Relationship Type="http://schemas.openxmlformats.org/officeDocument/2006/relationships/notesMaster" Target="/ppt/notesMasters/notesMaster1.xml" Id="R714dc954ac1c41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f06108f7e9429e" /><Relationship Type="http://schemas.openxmlformats.org/officeDocument/2006/relationships/notesMaster" Target="/ppt/notesMasters/notesMaster1.xml" Id="R8430aa096a1f43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6270d4ee9dd4e94" /><Relationship Type="http://schemas.openxmlformats.org/officeDocument/2006/relationships/notesMaster" Target="/ppt/notesMasters/notesMaster1.xml" Id="R167f394b74734a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case informed by the Floof.sg interview discussed by the team on 5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for volume and interview statement: checked team discussion transcript, 5 September 2026. Figures are interview-reported, not independently measured.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Both customer paths run through the same API and persisted agent loop.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AWS Bedrock handles language and action selection. LangGraph runs the bounded loop. Deterministic Python and OR-Tools own route truth and permissions.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Friday/Saturday clusters and customer records are synthetic prototype assumptions used for a repeatable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demo channel is a WhatsApp-style web thread. Model and routing providers also have deterministic offline paths for reproducible 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Benefits are demonstrated through the happy path, rejection path, persisted route version and zero-moved-promises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c33201c9a149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51e7a4cbc74568" /><Relationship Type="http://schemas.openxmlformats.org/officeDocument/2006/relationships/slideLayout" Target="/ppt/slideLayouts/slideLayout1.xml" Id="R51746894a6a545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746894a6a545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4dc2172b9c4b8f" /><Relationship Type="http://schemas.openxmlformats.org/officeDocument/2006/relationships/notesSlide" Target="/ppt/notesSlides/notesSlide1.xml" Id="R75412d24861a4a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0e6172e4c64122" /><Relationship Type="http://schemas.openxmlformats.org/officeDocument/2006/relationships/notesSlide" Target="/ppt/notesSlides/notesSlide2.xml" Id="Rcf6c4492046b4a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b1492f8134c50" /><Relationship Type="http://schemas.openxmlformats.org/officeDocument/2006/relationships/notesSlide" Target="/ppt/notesSlides/notesSlide3.xml" Id="R27b13b56272044d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57f0ee794487f" /><Relationship Type="http://schemas.openxmlformats.org/officeDocument/2006/relationships/notesSlide" Target="/ppt/notesSlides/notesSlide4.xml" Id="R5c86bb19ce5047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13cdc6661148c3" /><Relationship Type="http://schemas.openxmlformats.org/officeDocument/2006/relationships/notesSlide" Target="/ppt/notesSlides/notesSlide5.xml" Id="Re1c3cdf8e7c147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c43fadb1c442a9" /><Relationship Type="http://schemas.openxmlformats.org/officeDocument/2006/relationships/notesSlide" Target="/ppt/notesSlides/notesSlide6.xml" Id="R93f7c0d6f89e4d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f655be77c4914" /><Relationship Type="http://schemas.openxmlformats.org/officeDocument/2006/relationships/notesSlide" Target="/ppt/notesSlides/notesSlide7.xml" Id="R0932ebc0491445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807236-A624-46F4-AAE2-1B6AF357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C4A2B3-D267-49C1-839A-C3896196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26B42-533D-416D-A25C-6DE3ECA0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THE 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0977F4-E103-4E54-BAFD-191B6191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D8D6AA-E32E-45E2-8AFF-1CA5A35C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7FAE39-68C9-410F-AFCA-D1615C70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5D9FC7-25E8-430E-BDB8-007F76DE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34E49A-80D0-4996-8CCB-60746EC2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6572250" cy="12601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405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Nobody should spend an afternoon asking forty people when they are home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FCB5F5-5142-497D-B26A-74308764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0"/>
            <a:ext cx="619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An AI delivery coordinator that agrees a time by text, checks the published route and only offers windows the van can keep.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3612EA-1B03-43A3-A1B0-02500B21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86300"/>
            <a:ext cx="20764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ECBAE-65D5-43F6-8705-F483C4C9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863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57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573E"/>
                </a:solidFill>
                <a:latin typeface="Arial"/>
                <a:ea typeface="Arial"/>
                <a:cs typeface="Arial"/>
              </a:rPr>
              <a:t>FLOOF.SG · SINGAPORE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F52D42-DDDD-4AC4-834E-570E1DE9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686300"/>
            <a:ext cx="2190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103723-CAF0-44A2-BD32-F4131182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686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9635E"/>
                </a:solidFill>
                <a:latin typeface="Arial"/>
                <a:ea typeface="Arial"/>
                <a:cs typeface="Arial"/>
              </a:rPr>
              <a:t>IGNITE 2026 · DIGITAL 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71813B-B644-4C3C-A6DE-32B40082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686300"/>
            <a:ext cx="19240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D286B-D86F-4CD1-AC79-E48E96F1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6863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9635E"/>
                </a:solidFill>
                <a:latin typeface="Arial"/>
                <a:ea typeface="Arial"/>
                <a:cs typeface="Arial"/>
              </a:rPr>
              <a:t>MAJESTIC FIGHTERS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B8F05B-C50F-4F70-828A-3FD4B807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0668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MESSAGE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C5E843-9D95-4B57-BB7B-EE90B90B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622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PROMISE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5F30F6-022E-4477-93CA-59454574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291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ROUTE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5E1616-C1F3-40F0-908D-66AD69B5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287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37A5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919EB1-A0AD-42BE-9085-28F2259A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428750"/>
            <a:ext cx="0" cy="1714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37A5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7DA396-0655-47F4-BC1A-12EBC8B9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43250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37A5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31888D-65A9-4F9F-9808-3A28F833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43250"/>
            <a:ext cx="0" cy="1714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37A5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AA4B10-4E10-4A5D-965E-5879DACF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12668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237A5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A6216A-0A58-413E-942E-3248FBB5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9813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9E36B6-6E06-48DF-86C4-8D23C662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46958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237A5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346850-3D38-49EF-871C-48DDAC58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1431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5F4B"/>
          </a:solidFill>
          <a:ln xmlns:a="http://schemas.openxmlformats.org/drawingml/2006/main" w="9525">
            <a:solidFill>
              <a:srgbClr val="B75F4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9434E2-C1F4-4E8C-BD6D-586AC591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905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5F4B"/>
          </a:solidFill>
          <a:ln xmlns:a="http://schemas.openxmlformats.org/drawingml/2006/main" w="9525">
            <a:solidFill>
              <a:srgbClr val="B75F4B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5E1DDF-B1E9-48B9-9838-4DC78CC8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5305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One loop connects the customer decision to the operational plan.</a:t>
            </a:r>
          </a:p>
        </p:txBody>
      </p:sp>
    </p:spTree>
    <p:extLst>
      <p:ext uri="{BB962C8B-B14F-4D97-AF65-F5344CB8AC3E}">
        <p14:creationId xmlns:p14="http://schemas.microsoft.com/office/powerpoint/2010/main" val="882559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BA7A36-FC7B-457C-ABF7-C60B5347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7ED705-00F0-4801-8EB9-A9AD26C4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6A398B-AB43-427B-9818-8F23F5D3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98D2A-9472-4657-8089-B6B96A54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BENEFITS ·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E97E1B-2762-4D20-950A-770F53FA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6F2DB8-A98B-440B-83F3-B9C6662F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B3F40-E242-42F3-82BA-0F7090F0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39756-D3FD-4C76-8BC8-32063BE0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763000" cy="1073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345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Two hard jobs, both done by hand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3D26D1-8809-43FF-BCE7-14BB5BEC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Attended deliveries need a customer-approved time and a route that can still keep it.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B41D9D-7E27-4C91-ACB2-2D236C4D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57450"/>
            <a:ext cx="2667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15171D-2BAD-4FD4-B06C-E67480D9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30–40 deliveries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29FA0-37F4-4C65-B3AF-FDA41153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on a busy day</a:t>
            </a:r>
          </a:p>
          <a:p xmlns:a="http://schemas.openxmlformats.org/drawingml/2006/main">
            <a:pPr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interview reported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CD3EE5-6816-46AB-AB94-750B07C7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895600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2CAA8A-C9E0-456D-BB0F-4D78476B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57450"/>
            <a:ext cx="2667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79AAC4-7E94-4F79-8EDA-CB3783F4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09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One coordinator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DE00DE-3180-4C93-AB59-7066C417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099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asking customers</a:t>
            </a:r>
          </a:p>
          <a:p xmlns:a="http://schemas.openxmlformats.org/drawingml/2006/main">
            <a:pPr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on WhatsApp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FBA945-FAED-4BA8-AD0E-2A8ED6A1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95600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A59BE4-1C2C-4020-880B-C2C4E870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57450"/>
            <a:ext cx="2667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7EAE6"/>
          </a:solidFill>
          <a:ln xmlns:a="http://schemas.openxmlformats.org/drawingml/2006/main" w="19050">
            <a:solidFill>
              <a:srgbClr val="B75F4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926CB7-EB79-4086-838A-B7E4DEB0C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75F4B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B75F4B"/>
                </a:solidFill>
                <a:latin typeface="Georgia"/>
                <a:ea typeface="Georgia"/>
                <a:cs typeface="Georgia"/>
              </a:rPr>
              <a:t>One “no”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0F4BDE-CDAB-4C15-844A-0A26B309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099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and the route plan</a:t>
            </a:r>
          </a:p>
          <a:p xmlns:a="http://schemas.openxmlformats.org/drawingml/2006/main">
            <a:pPr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must change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95E347-1999-4EAC-A7F8-72C8DD49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53530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64F247-FA34-459F-AA97-646BA8EC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485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5573E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15573E"/>
                </a:solidFill>
                <a:latin typeface="Georgia"/>
                <a:ea typeface="Georgia"/>
                <a:cs typeface="Georgia"/>
              </a:rPr>
              <a:t>“Negotiating customers’ preferred delivery slots is the hardest part.”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D3E406-1EF4-454D-9577-5FB0E8E9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387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E8782"/>
                </a:solidFill>
                <a:latin typeface="Arial"/>
                <a:ea typeface="Arial"/>
                <a:cs typeface="Arial"/>
              </a:rPr>
              <a:t>Floof.sg interview · 5 September 2026 · paraphrased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26329E-09D6-4934-81B8-62442073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38625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The actual problem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D82B13-9990-47EC-B958-809C0EB3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91050"/>
            <a:ext cx="4762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Agree the time and keep the route sensible at the same time.</a:t>
            </a:r>
          </a:p>
        </p:txBody>
      </p:sp>
    </p:spTree>
    <p:extLst>
      <p:ext uri="{BB962C8B-B14F-4D97-AF65-F5344CB8AC3E}">
        <p14:creationId xmlns:p14="http://schemas.microsoft.com/office/powerpoint/2010/main" val="5216828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F2B77F-8216-4236-9908-AD90B681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10EC29-00A7-411B-9F51-4D590908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AA6ED-ADFE-4A62-8F4E-E98C042B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WHAT WE BUILT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D67E7-9294-434C-BFD9-2205F06E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EFFECTIVENESS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7A1F-D42E-4F26-AAED-5A311A70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AEC9F-436C-4C72-9459-9EC7E692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3A8F36-982B-4378-8148-62243FDC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24D56A-1D22-4735-A64A-E88729BE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10668000" cy="10501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75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3375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The customer texts. The agent replies with a time it can keep.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F614EA-4E0C-4341-A2E4-B38E73E5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649B2B-3583-45A3-899E-39E3CA85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5431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2421"/>
          </a:solidFill>
          <a:ln xmlns:a="http://schemas.openxmlformats.org/drawingml/2006/main" w="9525">
            <a:solidFill>
              <a:srgbClr val="1D242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5E62D3-4C19-4C59-A972-EBBDD5D8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431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97F008-5015-4EA2-B62B-C1B8CA96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Customer writes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AB9521-91BC-429B-A277-0DD32BFC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337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ordinary language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8BF69E-37C0-4F6B-9834-B2C358575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00350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4A2B51-4F9A-4F67-998F-18A99C31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19350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8FB732-F2A4-4504-B88E-D30FF927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5431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2421"/>
          </a:solidFill>
          <a:ln xmlns:a="http://schemas.openxmlformats.org/drawingml/2006/main" w="9525">
            <a:solidFill>
              <a:srgbClr val="1D242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806F02-D2EB-40CD-8DF8-9C108185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5431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D81CDB-3D0B-493E-B06F-5275F51B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590800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Agent checks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092124-9B42-4618-B959-2B0C3BE8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337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published route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56ED27-7ADE-4ABA-9D27-DA93CCD4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00350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041D4F-851B-4D8F-B5C5-BAF0127C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19350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572AAA-01C3-4FC4-94F6-CEF25BAB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431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2421"/>
          </a:solidFill>
          <a:ln xmlns:a="http://schemas.openxmlformats.org/drawingml/2006/main" w="9525">
            <a:solidFill>
              <a:srgbClr val="1D242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B64032-0348-4F7D-9EEF-049AD632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431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CBFE01-6A5E-4D30-B08A-9F45ABC1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90800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Agent offers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90A068-AC9D-4CB4-A217-43A13EA6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337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feasible window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290C64-484C-4ECA-BDF2-CC636C0D9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00350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B015E0-D8BF-401A-97DA-FE8F327F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19350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237A57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069ABC-88AC-4BA8-B232-A7C93DD3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5431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2421"/>
          </a:solidFill>
          <a:ln xmlns:a="http://schemas.openxmlformats.org/drawingml/2006/main" w="9525">
            <a:solidFill>
              <a:srgbClr val="1D242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B5F14C-6E8A-4A09-9A5A-EDDCAB3F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5431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B98F4F-0AFD-4807-8C3C-7C72934F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90800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Customer decides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70C18C-F2C5-406B-92E1-3D1F9527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337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accept or reject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D898A3-0546-451B-951C-BBF5B909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2197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CD6785-5C69-4AA3-83F1-F1A0EABF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HAPPY PATH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805ACF-E711-481F-984C-95EB41D8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529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95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Mrs Chua accepts the first offer.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2A6E79-41A7-48D4-BCE2-6EA7996F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One search · one offer · one confirmation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771228-A443-497A-9C5E-CC19E6EC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19550"/>
            <a:ext cx="56007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7EAE6"/>
          </a:solidFill>
          <a:ln xmlns:a="http://schemas.openxmlformats.org/drawingml/2006/main" w="0">
            <a:solidFill>
              <a:srgbClr val="F7EAE6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22321D-511F-4884-8DC8-24D32658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386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75F4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75F4B"/>
                </a:solidFill>
                <a:latin typeface="Arial"/>
                <a:ea typeface="Arial"/>
                <a:cs typeface="Arial"/>
              </a:rPr>
              <a:t>DIFFICULT PATH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32F31C-21B9-419B-837D-C76B8CBD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529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Mr Rajan says no. The agent excludes it and searches again.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8FC97A2-5E60-4D6A-9327-E73E3197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257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75F4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75F4B"/>
                </a:solidFill>
                <a:latin typeface="Arial"/>
                <a:ea typeface="Arial"/>
                <a:cs typeface="Arial"/>
              </a:rPr>
              <a:t>No consent means no booking change.</a:t>
            </a:r>
          </a:p>
        </p:txBody>
      </p:sp>
    </p:spTree>
    <p:extLst>
      <p:ext uri="{BB962C8B-B14F-4D97-AF65-F5344CB8AC3E}">
        <p14:creationId xmlns:p14="http://schemas.microsoft.com/office/powerpoint/2010/main" val="1822374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C64484-62AC-4D4E-BDB0-DB077852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31DEA-5C5A-4E66-A7A3-71F6628C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C4BFFD-9631-4D32-8740-2EFC1B0A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HOW IT IS BUILT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D083BC-514C-4DFE-8AC8-8A31AE3F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INNOVATION · TECHNICAL QUALITY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A8A566-2484-4267-A01D-E0A628CA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9B0D5-3669-4CF2-981F-E7510BEF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7234F-30CE-4EBD-A77B-B61450BA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49E810-9429-4E4A-ADF7-E849242C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10668000" cy="100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Everything comes back to one question: what should I do next?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90BFA5-0CB1-4C74-A30C-567410C4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85950"/>
            <a:ext cx="36957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D3FE12-F992-483E-B9B9-7C24A0FB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8595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Customer message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C7AD94-CA49-4AE6-B4DE-E07301F9A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66975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37A57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FB3196-1619-4628-8B6F-8FE33B61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81300"/>
            <a:ext cx="36957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8575">
            <a:solidFill>
              <a:srgbClr val="237A5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8EA9DE-0DE9-4041-8462-B1E90E30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8194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MAIN 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A9DE1-95E8-4E0A-8AA4-BCE4A747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86100"/>
            <a:ext cx="3314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65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Choose the next approved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5BAA3F-6C2A-4D15-AA86-A860BFBA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78CA9C-4981-4439-8787-7816327D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981450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065AC7-6817-4DE2-9BAC-A045FA37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9814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DBC327-C832-42AB-B431-2CF97F3C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2705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88C37F-60A1-4106-9ECA-04B3AA26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BB72AC-FCA6-4A37-8C08-5EC05960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Find the rule</a:t>
            </a:r>
          </a:p>
          <a:p xmlns:a="http://schemas.openxmlformats.org/drawingml/2006/main">
            <a:pPr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that applies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694CC1-EAE6-4AA8-8489-D2CD6CEA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814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DBB375-9CC4-4B18-8FAF-27E3AFDB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71950"/>
            <a:ext cx="2705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88EC68-25BE-4E07-B2A3-89B0D9AF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862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ROUTE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E2F268-83F9-4D4F-A3D0-5AB4C8DF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9105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Calculate a</a:t>
            </a:r>
          </a:p>
          <a:p xmlns:a="http://schemas.openxmlformats.org/drawingml/2006/main">
            <a:pPr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feasible window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CAAF6C-AF71-494C-A6B6-30FC23F1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9814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1AC3FF-914A-46B3-973B-EECA79B0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71950"/>
            <a:ext cx="2705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4292D0-FAF9-4B11-9E7F-6E4E0319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2862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B7701F-99EE-446E-8BEB-88F0B7B9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59105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Explain, confirm</a:t>
            </a:r>
          </a:p>
          <a:p xmlns:a="http://schemas.openxmlformats.org/drawingml/2006/main">
            <a:pPr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or escalate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A9E56C-1E60-47F1-A6A9-B217C150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429250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B32449-99C3-4A1A-A484-E0D776A2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9590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FA99D9-3787-4070-A45B-29E0349E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29590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811341-EC8C-4458-8D1A-9CDA1B5D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9590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60F75B-7AF3-41D4-A649-EF425227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524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↺ read the result and decide again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028707-4DA0-4636-93CC-5873C7F4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5219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2856B3-5E4B-42B9-A9C3-BF3E06ED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72150"/>
            <a:ext cx="491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57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573E"/>
                </a:solidFill>
                <a:latin typeface="Arial"/>
                <a:ea typeface="Arial"/>
                <a:cs typeface="Arial"/>
              </a:rPr>
              <a:t>AI: language and action selection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63A4631-2657-44A6-BE6F-5A5DE3E6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772150"/>
            <a:ext cx="5600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0B12B8-11BF-4FCF-A111-BFF1C639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7215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9635E"/>
                </a:solidFill>
                <a:latin typeface="Arial"/>
                <a:ea typeface="Arial"/>
                <a:cs typeface="Arial"/>
              </a:rPr>
              <a:t>CODE: dates, distance, consent and route truth</a:t>
            </a:r>
          </a:p>
        </p:txBody>
      </p:sp>
    </p:spTree>
    <p:extLst>
      <p:ext uri="{BB962C8B-B14F-4D97-AF65-F5344CB8AC3E}">
        <p14:creationId xmlns:p14="http://schemas.microsoft.com/office/powerpoint/2010/main" val="16574276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F70A9E-0605-41B0-98BF-035D34EE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5363B4-DCE9-4671-B787-24986092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AC6FC8-DABD-404B-8B93-DC556E35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FITTING PEOPLE 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554A36-65D0-4D2F-A1C8-A486E9DD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INNOVATION · TECHNICAL QUALITY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43AAA4-8C71-4F01-9A4E-E8E35C92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C08E4-A748-4036-B8A0-1627A157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B5FF1-70FF-450B-B328-7D86608D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7E7DE-DB6B-46A7-80E3-A0FCCA63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953500" cy="1073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345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Slide them into the day. Don’t rebuild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9CFC84-BF2D-4ABC-88D0-3098F46B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2197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7BEFE4-2FC5-4C4F-A73D-D1C70E5D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FRIDAY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49D087-EECF-40A8-8916-B1988B89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468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North · North-East · South · East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872A53-7639-4D38-B9D3-A7721A11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90700"/>
            <a:ext cx="56007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87B550-5AF7-48BC-B354-5B8D946A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0500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SATURDAY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6C6838-0015-4C09-B70C-A8A24BF3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90750"/>
            <a:ext cx="506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Central · City · West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2DB931-F7F1-461B-9A80-A8174C88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241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Published route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125B1D-C305-4F04-AAFC-6315FF1F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38550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D9DDD9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782791-D23E-4F7D-8C07-AF3C69A9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514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D242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B71507-983A-401A-A19C-412462F3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Depot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B7505E-B872-451C-ACBD-2B3FA399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514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D242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72DBB7-5657-4B9B-B149-B64E6F62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Stop 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54FAF9-14FF-4ECB-BF27-5BD59DE7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671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2483F5-CDBA-499F-A37F-23742BF2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8862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NEW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F5965A-3F43-41D9-BCCE-689DDEA0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514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D242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5C52D4-11E7-4468-AF1A-4112D423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8862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Stop 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65847C-7FE5-4AD9-BFD7-D83FAD81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3514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D242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4609C7-4341-47F3-857E-ECFA0F57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8862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Depot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2327E3-5A93-4C0D-AA9A-EE79CCC1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362450"/>
            <a:ext cx="794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Try before and after nearby stops, then re-check every later promise.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E53004-E6AD-459C-B520-04C0DA18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911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90F242-B691-4192-A36F-674CE55F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53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Never shuffle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9FFC91-8822-44BF-B9DA-690EBFFB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Confirmed stop order stays put.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989A92-DD12-4192-B8D2-91BA1DC6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911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9FE7F7-843E-4CF1-84EF-884679DE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53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Never make late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3AEF60-536B-4DFC-934F-458E1B80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2768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Every later window is checked.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B0BCDA-355A-454F-A216-97536DA6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911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592860-6469-497F-8826-2545AED2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53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Only valid days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ACA762E-CA9A-4111-9F0C-19758BCD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2768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Scope is enforced by the tool.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47643A-382B-46A1-A272-60E90A32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9911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7B2B89-7ADE-4261-9EFA-C6C9DB9C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953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One or three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D5F7AD-914D-405A-B8A2-36C9E93B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2768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Three fallbacks only after a no.</a:t>
            </a:r>
          </a:p>
        </p:txBody>
      </p:sp>
    </p:spTree>
    <p:extLst>
      <p:ext uri="{BB962C8B-B14F-4D97-AF65-F5344CB8AC3E}">
        <p14:creationId xmlns:p14="http://schemas.microsoft.com/office/powerpoint/2010/main" val="2283506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B3F5A0-B012-4356-AB78-42676B28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38E060-C95B-41DF-96B4-D0B26973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36E686-4F14-4D30-B829-A79F6046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THE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2EEC5C-8483-4661-9406-0F562FB5E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EFFECTIVENESS · TECHNICAL QUALITY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7DA145-656D-4BBA-881B-C7A37084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BFC9EF-47CA-4372-8C5E-E262FE4A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B70CF7-3B16-4E06-B5C1-9DB968FE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4B3EB3-F8CD-45C9-93D9-FF90AFB7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10477500" cy="100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The customer sees one answer. The coordinator can inspect the work.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A2B9E-7AE7-41BF-AE18-4C344C9B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249555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9C45D4-5BB4-4C08-8737-B5EE59ED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2495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EF0EE"/>
          </a:solidFill>
          <a:ln xmlns:a="http://schemas.openxmlformats.org/drawingml/2006/main" w="0">
            <a:solidFill>
              <a:srgbClr val="EEF0E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20B5B7-F214-4443-93B4-F7D203DC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96B71E-0AAE-4542-8D00-DE1CFC86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Every job and its booking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93DE6F-C43E-433D-ACA6-3D15E2609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2114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80F8E4-4868-4D56-B29E-33122F18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8615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Confirmed</a:t>
            </a:r>
          </a:p>
          <a:p xmlns:a="http://schemas.openxmlformats.org/drawingml/2006/main">
            <a:pPr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Offer sent</a:t>
            </a:r>
          </a:p>
          <a:p xmlns:a="http://schemas.openxmlformats.org/drawingml/2006/main">
            <a:pPr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Needs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373CC4-184A-4C4C-89E3-7A0B081F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19300"/>
            <a:ext cx="249555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E235B3-7E70-43DA-86E0-69D875F2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19300"/>
            <a:ext cx="2495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EF0EE"/>
          </a:solidFill>
          <a:ln xmlns:a="http://schemas.openxmlformats.org/drawingml/2006/main" w="0">
            <a:solidFill>
              <a:srgbClr val="EEF0E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585FFC-7901-4B1A-8A56-78DF8EF5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478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DAILY ROUTES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DA1B65-E828-4E5D-9652-5396EABB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Published route versions in visiting order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A01042-683B-4081-A6DD-2BD17D38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90900"/>
            <a:ext cx="2114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754BC5-C3A1-4C8F-906A-03F14D4B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8615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v1 → v2</a:t>
            </a:r>
          </a:p>
          <a:p xmlns:a="http://schemas.openxmlformats.org/drawingml/2006/main">
            <a:pPr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New stop highlighted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FCD408-D0DC-4335-AF84-0640F010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19300"/>
            <a:ext cx="249555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37A5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1C6015-6B23-4A96-87EE-7A27CFC0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19300"/>
            <a:ext cx="2495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468984-81CC-41D7-AEB9-F4CB6E19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CUSTOMER CHAT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51E719-51AC-4301-8214-CABB4983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71750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The conversation and decision evidence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67D154-67E9-40A4-9C50-160FDC17E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90900"/>
            <a:ext cx="2114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CAD252-A8C1-4F40-80A0-E2358C45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8615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Function calls</a:t>
            </a:r>
          </a:p>
          <a:p xmlns:a="http://schemas.openxmlformats.org/drawingml/2006/main">
            <a:pPr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Route evidence</a:t>
            </a:r>
          </a:p>
          <a:p xmlns:a="http://schemas.openxmlformats.org/drawingml/2006/main">
            <a:pPr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Decision outcome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20912E-B8A1-416E-9146-799F6131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19300"/>
            <a:ext cx="27051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DF97F2-5E26-49D3-B213-2460B24A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526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TRACE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3630BE-DDC1-44F8-A7A8-49DC2D92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09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CDFF14-43A9-4177-85A6-C005AEC8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514600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2421"/>
                </a:solidFill>
                <a:latin typeface="Arial"/>
                <a:ea typeface="Arial"/>
                <a:cs typeface="Arial"/>
              </a:rPr>
              <a:t>Read the message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03AA16-6667-4B0F-93BF-F2629A14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766E8A-F39D-4C86-AC94-B45A13AD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57500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2421"/>
                </a:solidFill>
                <a:latin typeface="Arial"/>
                <a:ea typeface="Arial"/>
                <a:cs typeface="Arial"/>
              </a:rPr>
              <a:t>Checked the route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CECCBE-6CE3-4C5F-B322-17738227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956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1AF17D-3437-4BAE-89C9-957776CA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00400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2421"/>
                </a:solidFill>
                <a:latin typeface="Arial"/>
                <a:ea typeface="Arial"/>
                <a:cs typeface="Arial"/>
              </a:rPr>
              <a:t>Rejected unsafe slots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EB82C1-56A7-44F6-947C-2EA9D46A0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385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938F59-7782-4331-86FC-00E9074A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43300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2421"/>
                </a:solidFill>
                <a:latin typeface="Arial"/>
                <a:ea typeface="Arial"/>
                <a:cs typeface="Arial"/>
              </a:rPr>
              <a:t>Sent one reply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8BBF18-F6DB-4FA5-B818-8891B2EA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WORKING STACK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37AF38-68AC-4C54-8520-66932B7F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Python · FastAPI · Next.js · LangGraph · AWS Bedrock · OR-Tools · SQLite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047062-3978-4D77-BB19-AF4E6B8D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Every tool result is persisted. The panel is evidence from the run, not a generated explanation of what might have happened.</a:t>
            </a:r>
          </a:p>
        </p:txBody>
      </p:sp>
    </p:spTree>
    <p:extLst>
      <p:ext uri="{BB962C8B-B14F-4D97-AF65-F5344CB8AC3E}">
        <p14:creationId xmlns:p14="http://schemas.microsoft.com/office/powerpoint/2010/main" val="15933625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CD01A5-987E-4CC9-8E56-59CDC26D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21152A-7689-4DD3-9B44-8D74FF71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9FFAB9-F344-41E2-9EBF-BDFD1257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WHAT CHANGES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051CC4-804D-47FD-A44A-5812EFE5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BENEFITS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47F687-39DE-4332-B6DE-D497BB9B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4416C-6D1E-4CE3-B887-1F17AF94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635BB2-EA95-4139-B1C2-BD468CEF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42EBDC-FB1A-4942-9426-55CF707D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10287000" cy="1073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345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An afternoon of texting becomes something that answers itself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1AB570-E3FB-4A31-B428-623F9A55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BY HAND TODAY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9CE6C0-923C-4F09-AB80-B5DA6BAA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90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WITH DISPATCH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E6AF7F-3688-444D-8E7D-219A28ED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5143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48F6CC-67A4-4996-A68A-F2336FED7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Chase dozens of replies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5A2A31-F163-4957-BD15-5166344E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5742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4BC93-FB2D-406F-977A-928BB82F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523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0C5C6F-424A-4BEB-A0C0-A8F2DB30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57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573E"/>
                </a:solidFill>
                <a:latin typeface="Arial"/>
                <a:ea typeface="Arial"/>
                <a:cs typeface="Arial"/>
              </a:rPr>
              <a:t>Answer each customer as they reply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B04C97-705C-4543-869E-B8C53ECF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19400"/>
            <a:ext cx="5143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B91DA0-C919-4584-A2CA-59834513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A rejection starts another manual 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70D5AF-D34B-42F9-96E9-59AA0FAD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8607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C0AAD4-554D-46EE-89F1-837E38E2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19400"/>
            <a:ext cx="523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E360B5-6D09-4E0F-9B52-3833875C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19400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57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573E"/>
                </a:solidFill>
                <a:latin typeface="Arial"/>
                <a:ea typeface="Arial"/>
                <a:cs typeface="Arial"/>
              </a:rPr>
              <a:t>Exclude it and replan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EE7B56-C042-4407-837B-72F18F68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48050"/>
            <a:ext cx="5143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F9CADA-8A8C-40C5-AE7A-3B9A4FBE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The plan lives in one person’s 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D5E1F5-0EDD-4325-BDC8-6BEE4318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51472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EB7CF8-1DF0-4779-89DB-42356F4C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48050"/>
            <a:ext cx="523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D304EE-9E0F-4210-9F42-5E5EC4AA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48050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57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573E"/>
                </a:solidFill>
                <a:latin typeface="Arial"/>
                <a:ea typeface="Arial"/>
                <a:cs typeface="Arial"/>
              </a:rPr>
              <a:t>Every decision remains inspectable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8097C7-387B-40DE-B2A7-3BF57632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76700"/>
            <a:ext cx="5143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D7E640-71A2-4845-A3D0-D1980179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Drivers reconcile times on the road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86BC2C-8A14-4DD0-BB7D-CF3F6BD0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4337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D151D7-6FBC-4E45-8A94-D0136D83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76700"/>
            <a:ext cx="523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4FBE69-0363-4BAC-BF27-AF21AA9B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76700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57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573E"/>
                </a:solidFill>
                <a:latin typeface="Arial"/>
                <a:ea typeface="Arial"/>
                <a:cs typeface="Arial"/>
              </a:rPr>
              <a:t>Publish a route from accepted promises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F9536D-BFFF-4CF9-922D-45AB3EDD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110680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D2421"/>
          </a:solidFill>
          <a:ln xmlns:a="http://schemas.openxmlformats.org/drawingml/2006/main" w="0">
            <a:solidFill>
              <a:srgbClr val="1D2421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3F0E35-F740-45A6-9FA7-BD90BB61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723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Every customer gets a time they agreed to.</a:t>
            </a:r>
          </a:p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Every driver gets a route that makes sense.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87253F-B2E8-4E1F-88C2-49AA4DDC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81600"/>
            <a:ext cx="314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CE6E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CE6E0"/>
                </a:solidFill>
                <a:latin typeface="Arial"/>
                <a:ea typeface="Arial"/>
                <a:cs typeface="Arial"/>
              </a:rPr>
              <a:t>The coordinator handles exceptions instead of spending the day on WhatsApp.</a:t>
            </a:r>
          </a:p>
        </p:txBody>
      </p:sp>
    </p:spTree>
    <p:extLst>
      <p:ext uri="{BB962C8B-B14F-4D97-AF65-F5344CB8AC3E}">
        <p14:creationId xmlns:p14="http://schemas.microsoft.com/office/powerpoint/2010/main" val="4375806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2026-09-06T12:51:50.0980000Z</dcterms:created>
  <dcterms:modified xsi:type="dcterms:W3CDTF">2026-09-06T12:51:50.0980000Z</dcterms:modified>
</coreProperties>
</file>