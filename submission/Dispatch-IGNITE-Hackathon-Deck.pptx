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9dc23502f4054" /><Relationship Type="http://schemas.openxmlformats.org/officeDocument/2006/relationships/extended-properties" Target="/docProps/app.xml" Id="R3d7076e2ab344ed0" /><Relationship Type="http://schemas.openxmlformats.org/officeDocument/2006/relationships/officeDocument" Target="/ppt/presentation.xml" Id="R15ff29fc0834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76c1d559c4558"/>
  </p:sldMasterIdLst>
  <p:notesMasterIdLst>
    <p:notesMasterId xmlns:r="http://schemas.openxmlformats.org/officeDocument/2006/relationships" r:id="R4fa81803c15b4ae0"/>
  </p:notesMasterIdLst>
  <p:sldIdLst>
    <p:sldId xmlns:r="http://schemas.openxmlformats.org/officeDocument/2006/relationships" id="256" r:id="Rf16ea1ad2b8a4dec"/>
    <p:sldId xmlns:r="http://schemas.openxmlformats.org/officeDocument/2006/relationships" id="257" r:id="Raab8f7c631394185"/>
    <p:sldId xmlns:r="http://schemas.openxmlformats.org/officeDocument/2006/relationships" id="258" r:id="Rf84876888181479c"/>
    <p:sldId xmlns:r="http://schemas.openxmlformats.org/officeDocument/2006/relationships" id="259" r:id="Rc4b4ca6123e84fd3"/>
    <p:sldId xmlns:r="http://schemas.openxmlformats.org/officeDocument/2006/relationships" id="260" r:id="Rb3c4c994d71d4a80"/>
    <p:sldId xmlns:r="http://schemas.openxmlformats.org/officeDocument/2006/relationships" id="261" r:id="R74189d07a1e14815"/>
    <p:sldId xmlns:r="http://schemas.openxmlformats.org/officeDocument/2006/relationships" id="262" r:id="Rc8e6178b577b42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0e405b6234e98" /><Relationship Type="http://schemas.openxmlformats.org/officeDocument/2006/relationships/slideMaster" Target="/ppt/slideMasters/slideMaster1.xml" Id="R15d76c1d559c4558" /><Relationship Type="http://schemas.openxmlformats.org/officeDocument/2006/relationships/notesMaster" Target="/ppt/notesMasters/notesMaster1.xml" Id="R4fa81803c15b4ae0" /><Relationship Type="http://schemas.openxmlformats.org/officeDocument/2006/relationships/presProps" Target="/ppt/presProps.xml" Id="Rf5f499e2cec64de4" /><Relationship Type="http://schemas.openxmlformats.org/officeDocument/2006/relationships/tableStyles" Target="/ppt/tableStyles.xml" Id="Rbec54b8275aa4016" /><Relationship Type="http://schemas.openxmlformats.org/officeDocument/2006/relationships/slide" Target="/ppt/slides/slide1.xml" Id="Rf16ea1ad2b8a4dec" /><Relationship Type="http://schemas.openxmlformats.org/officeDocument/2006/relationships/slide" Target="/ppt/slides/slide2.xml" Id="Raab8f7c631394185" /><Relationship Type="http://schemas.openxmlformats.org/officeDocument/2006/relationships/slide" Target="/ppt/slides/slide3.xml" Id="Rf84876888181479c" /><Relationship Type="http://schemas.openxmlformats.org/officeDocument/2006/relationships/slide" Target="/ppt/slides/slide4.xml" Id="Rc4b4ca6123e84fd3" /><Relationship Type="http://schemas.openxmlformats.org/officeDocument/2006/relationships/slide" Target="/ppt/slides/slide5.xml" Id="Rb3c4c994d71d4a80" /><Relationship Type="http://schemas.openxmlformats.org/officeDocument/2006/relationships/slide" Target="/ppt/slides/slide6.xml" Id="R74189d07a1e14815" /><Relationship Type="http://schemas.openxmlformats.org/officeDocument/2006/relationships/slide" Target="/ppt/slides/slide7.xml" Id="Rc8e6178b577b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d2287a52c14f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c7b40435e54bbb" /><Relationship Type="http://schemas.openxmlformats.org/officeDocument/2006/relationships/notesMaster" Target="/ppt/notesMasters/notesMaster1.xml" Id="Rcdb44d0f7d32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2b77f43224d43" /><Relationship Type="http://schemas.openxmlformats.org/officeDocument/2006/relationships/notesMaster" Target="/ppt/notesMasters/notesMaster1.xml" Id="R9700a082f73847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68c315c13344f1" /><Relationship Type="http://schemas.openxmlformats.org/officeDocument/2006/relationships/notesMaster" Target="/ppt/notesMasters/notesMaster1.xml" Id="R15f0f168abb3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5938aab3ad4e3e" /><Relationship Type="http://schemas.openxmlformats.org/officeDocument/2006/relationships/notesMaster" Target="/ppt/notesMasters/notesMaster1.xml" Id="Rc4b65b0c9cb4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00aeee620a4ec5" /><Relationship Type="http://schemas.openxmlformats.org/officeDocument/2006/relationships/notesMaster" Target="/ppt/notesMasters/notesMaster1.xml" Id="R0d00d1f0af1e42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1e87712074047" /><Relationship Type="http://schemas.openxmlformats.org/officeDocument/2006/relationships/notesMaster" Target="/ppt/notesMasters/notesMaster1.xml" Id="R9371e4e75fc64d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9420e2d9734a50" /><Relationship Type="http://schemas.openxmlformats.org/officeDocument/2006/relationships/notesMaster" Target="/ppt/notesMasters/notesMaster1.xml" Id="Rf8c2fce76fbc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client use case: Floof.sg, attended fresh-pet-food delivery in Singapore.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Floof.sg handles 30–40 attended deliveries on a busy day. Customer availability and route feasibility must be solved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customer paths run through the same API and persisted agent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Bedrock handles language and action selection. LangGraph runs the bounded loop. Deterministic Python and OR-Tools own route truth and permissions.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Friday/Saturday clusters and customer records are synthetic prototype assumptions used for a repeatable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channel is a WhatsApp-style web thread. Model and routing providers also have deterministic offline paths for reproducible 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Benefits are demonstrated through the happy path, rejection path, persisted route version and zero-moved-promises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59d4775dc47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7f57fceba4c05" /><Relationship Type="http://schemas.openxmlformats.org/officeDocument/2006/relationships/slideLayout" Target="/ppt/slideLayouts/slideLayout1.xml" Id="R0f10f216083942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0f216083942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be4a657fa4c4c" /><Relationship Type="http://schemas.openxmlformats.org/officeDocument/2006/relationships/notesSlide" Target="/ppt/notesSlides/notesSlide1.xml" Id="R782594bd1f79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cc1e1d9044912" /><Relationship Type="http://schemas.openxmlformats.org/officeDocument/2006/relationships/image" Target="/ppt/media/image.png" Id="R0769144cdba04a84" /><Relationship Type="http://schemas.openxmlformats.org/officeDocument/2006/relationships/image" Target="/ppt/media/image.svg" Id="Ra022c717ccbe48ab" /><Relationship Type="http://schemas.openxmlformats.org/officeDocument/2006/relationships/notesSlide" Target="/ppt/notesSlides/notesSlide2.xml" Id="R3943ee41f8d349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87b9f2e164501" /><Relationship Type="http://schemas.openxmlformats.org/officeDocument/2006/relationships/notesSlide" Target="/ppt/notesSlides/notesSlide3.xml" Id="R8f8591f10a7647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2fa1f83f344e9" /><Relationship Type="http://schemas.openxmlformats.org/officeDocument/2006/relationships/notesSlide" Target="/ppt/notesSlides/notesSlide4.xml" Id="Rb2d2f5dc47f94e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4699e788741d0" /><Relationship Type="http://schemas.openxmlformats.org/officeDocument/2006/relationships/notesSlide" Target="/ppt/notesSlides/notesSlide5.xml" Id="R2c36a62ab88d41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721fec2d649be" /><Relationship Type="http://schemas.openxmlformats.org/officeDocument/2006/relationships/notesSlide" Target="/ppt/notesSlides/notesSlide6.xml" Id="Rb16a4d342d4b40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6023698524ba1" /><Relationship Type="http://schemas.openxmlformats.org/officeDocument/2006/relationships/notesSlide" Target="/ppt/notesSlides/notesSlide7.xml" Id="R6ce9a55fa76c42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1CE8A-127F-4D91-918C-2498F81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44DFB-963B-4544-8BED-1D7A6EDC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3402F-8828-47BC-B9DA-60EFC689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DCE48-FD1B-4E26-BBA1-52EE1723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544DE-FC23-4CC0-812F-651CA18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90780-56F7-466A-9554-A0CEE44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EFE50-3190-42A3-870C-01AC1B11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DDDCE-B2B5-4485-A569-75ABAF05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572250" cy="1260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Nobody should spend an afternoon asking forty people when they are 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EE509-4458-4A82-9A8F-D454C019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An AI delivery coordinator that agrees a time by text, checks the published route and only offers windows the van can keep.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DA143-25F9-4EAF-8F8B-2387265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076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37294-5EE4-476E-9480-DA89BFE0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573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573E"/>
                </a:solidFill>
                <a:latin typeface="Arial"/>
                <a:ea typeface="Arial"/>
                <a:cs typeface="Arial"/>
              </a:rPr>
              <a:t>FLOOF.SG · SINGAPORE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FB8A1-5D38-40C6-8C6A-20B3E11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37A67-DB1A-4B88-890E-606CD72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5E"/>
                </a:solidFill>
                <a:latin typeface="Arial"/>
                <a:ea typeface="Arial"/>
                <a:cs typeface="Arial"/>
              </a:rPr>
              <a:t>IGNITE 2026 · DIGITAL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811F3-7EBE-40E7-8C36-F2C8A0F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86300"/>
            <a:ext cx="1924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46B37-638E-4E3C-9160-4DF635B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86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5E"/>
                </a:solidFill>
                <a:latin typeface="Arial"/>
                <a:ea typeface="Arial"/>
                <a:cs typeface="Arial"/>
              </a:rPr>
              <a:t>MAJESTIC FIGHTERS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910EA-C5A1-49F4-82B8-22E9CD44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21881-3150-498C-988C-153AB158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62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PROMISE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F0602-E483-4C7F-9839-0954C986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291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F1AA7-ACEB-438C-8AEA-3FB9EA65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28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37A5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76E18-C639-47D6-A204-4A17673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428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37A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E66BD-C0AC-4090-B763-76B3BC5B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37A5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9A70A-5FB2-41CB-8C17-4BCEE79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37A5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0FBB4-FAA3-4E80-AB12-3DC5EB41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266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37A5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F9CD8-433F-48E0-876C-0C48645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0F0D1-3A94-47C7-A822-01527389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95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37A5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268FF-C93C-4A26-9084-30793D19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43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5F4B"/>
          </a:solidFill>
          <a:ln xmlns:a="http://schemas.openxmlformats.org/drawingml/2006/main" w="9525">
            <a:solidFill>
              <a:srgbClr val="B75F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3D03A-DC1E-4DC9-B1ED-9C3B57AA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0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5F4B"/>
          </a:solidFill>
          <a:ln xmlns:a="http://schemas.openxmlformats.org/drawingml/2006/main" w="9525">
            <a:solidFill>
              <a:srgbClr val="B75F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65E4F0-16CD-40CE-8188-D3E28608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530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One loop connects the customer decision to the operational plan.</a:t>
            </a:r>
          </a:p>
        </p:txBody>
      </p:sp>
    </p:spTree>
    <p:extLst>
      <p:ext uri="{BB962C8B-B14F-4D97-AF65-F5344CB8AC3E}">
        <p14:creationId xmlns:p14="http://schemas.microsoft.com/office/powerpoint/2010/main" val="1050329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5EEBA-28EE-414D-A6BC-87BD12B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4D202-6637-47C7-AA89-792CFB2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2E256-A223-4355-8325-3D6FF896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D323C-A37E-4607-97F9-FE46089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BENEFITS ·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E4E3A-0780-4EC3-858F-E4DB472B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30C1A-4C95-497D-A0ED-AA90761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A4A65-44C8-4DA1-9416-60842FF6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B84C8-AE30-4BE2-AEDA-D071589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763000" cy="1073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Two hard jobs, both done by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468F6-0614-4D53-9C02-AA27997C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Attended deliveries need a customer-approved time and a route that can still keep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31283-2864-4A19-9C87-1BF11532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F1A9-D1E5-4D5A-834F-05830DD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30–40 deliveries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64DE0-DBA2-4AFD-B9E6-A0C4C16B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on a busy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69418-7164-4882-B05E-1E387B87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90473-B17A-4F2B-BDB3-1DC86A3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A1D3C-6426-4E1F-9545-DD3E068A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09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366"/>
          </a:solidFill>
          <a:ln xmlns:a="http://schemas.openxmlformats.org/drawingml/2006/main" w="0">
            <a:solidFill>
              <a:srgbClr val="25D366"/>
            </a:solidFill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9144cdba04a84">
            <a:extLst>
              <a:ext uri="{96DAC541-7B7A-43D3-8B79-37D633B846F1}">
                <asvg:svgBlip xmlns:asvg="http://schemas.microsoft.com/office/drawing/2016/SVG/main" r:embed="Ra022c717ccbe48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95725" y="26670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744EF-07DB-4693-B038-4288878C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One coordinator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E36CA-4AED-48EC-BAC5-A4DC67BC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asking customers</a:t>
            </a:r>
          </a:p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on WhatsApp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05FA4-73A9-4738-8281-CE8CB8BE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9C4C8-6F0B-4D33-82B3-60EA069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7EAE6"/>
          </a:solidFill>
          <a:ln xmlns:a="http://schemas.openxmlformats.org/drawingml/2006/main" w="19050">
            <a:solidFill>
              <a:srgbClr val="B75F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27C2A-9412-4E52-827F-1083520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5F4B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75F4B"/>
                </a:solidFill>
                <a:latin typeface="Georgia"/>
                <a:ea typeface="Georgia"/>
                <a:cs typeface="Georgia"/>
              </a:rPr>
              <a:t>One “no”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A0F57-31F7-4EF4-A340-E4C253F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and the route plan</a:t>
            </a:r>
          </a:p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must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5EFAE-EE54-4317-86D2-C130BFF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3530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4166C-E8DC-4305-B98B-668E59CC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THE BOTTLENECK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12841-82F7-4BB4-9D8C-5C71B165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573E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5573E"/>
                </a:solidFill>
                <a:latin typeface="Georgia"/>
                <a:ea typeface="Georgia"/>
                <a:cs typeface="Georgia"/>
              </a:rPr>
              <a:t>Customer availability becomes route input.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7BDEE-FEAA-4C2C-AA4D-D7BB280D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One “no” changes both the conversation and the plan.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DB597-334A-482F-8E22-1DA70029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The actual problem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6D718-A44D-449F-B81F-524FB769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Agree the time and keep the route sensible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264625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18ED09-F13A-44F9-97D7-3815725B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CF63C-4933-42DC-946B-44C487F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4CD09-0119-47CD-862E-9315D736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C26B9-34B6-403C-9DC3-C5F86A9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EFFECTIVENESS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7F11D-9EB0-4509-BB06-F7452D67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237D-70BC-4DAF-9370-79F6E02E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BA20B-46EC-476B-9CDD-2B738004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68A0F-05A0-473D-9F6E-0379F5E4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0668000" cy="105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The customer texts. The agent replies with a time it can keep.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41EB3-A06F-4F32-9042-7F60729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9D07D-64F6-4E6A-9608-F2AB65F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43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21"/>
          </a:solidFill>
          <a:ln xmlns:a="http://schemas.openxmlformats.org/drawingml/2006/main" w="9525">
            <a:solidFill>
              <a:srgbClr val="1D242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55746-3066-4BE2-A333-7ADD0B34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94EBE-34F1-48CC-B141-42137CF1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Customer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74CF6-531C-4B46-9030-2E819A7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ordinary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BF467-AD20-496D-A5C0-0540F6D4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E4943-C984-4713-9033-6A7157C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8BF3E-D528-45D2-8159-1EC2A99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43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21"/>
          </a:solidFill>
          <a:ln xmlns:a="http://schemas.openxmlformats.org/drawingml/2006/main" w="9525">
            <a:solidFill>
              <a:srgbClr val="1D242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11466-54B3-4F4C-8791-9F209BA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F4DCF-A2C4-4AE5-8701-AD60D8AC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908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Agent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02946-053A-47BA-92FC-125C297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published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E07DC-7553-4CD7-ABEB-D4DAC0E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03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B628A-D8F6-45CC-B063-B9BA6FAE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8CCFD-DED1-4EAC-8AB8-D78B5971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43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21"/>
          </a:solidFill>
          <a:ln xmlns:a="http://schemas.openxmlformats.org/drawingml/2006/main" w="9525">
            <a:solidFill>
              <a:srgbClr val="1D242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C15A9-A0E6-4C99-8160-128AE7F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A8993-2A78-4AC0-9E7F-6463509A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Agent offers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4CC56-D8EB-47A5-8810-AE73014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feasible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B880A-4A4F-4C15-9123-F60287AE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E5DBF1-A298-4C88-88B6-FEC0DD88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237A5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5718E-776E-46EC-9628-4E5FAD46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43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21"/>
          </a:solidFill>
          <a:ln xmlns:a="http://schemas.openxmlformats.org/drawingml/2006/main" w="9525">
            <a:solidFill>
              <a:srgbClr val="1D242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ED743-0A2E-4A65-956A-95F1121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43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F697B-DC66-4ECA-9635-E5049D9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908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Customer decides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74D05-7A82-43BD-9A8D-D4D0F9DC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accept or reject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C25391-23C4-4687-8D1F-26E2ADCD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3C3E4-6F07-43A5-98EC-6D8FE77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HAPPY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98F90-4F3C-400F-BA48-80D2054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Mrs Chua accepts the first offer.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A87FC3-BDF3-4088-B6C9-298C51FD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One search · one offer · one confirmation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9525D-393F-4265-A139-6E598281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19550"/>
            <a:ext cx="5600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EAE6"/>
          </a:solidFill>
          <a:ln xmlns:a="http://schemas.openxmlformats.org/drawingml/2006/main" w="0">
            <a:solidFill>
              <a:srgbClr val="F7EA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620C6C-2F55-4CFD-9A93-FAFC0B6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5F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5F4B"/>
                </a:solidFill>
                <a:latin typeface="Arial"/>
                <a:ea typeface="Arial"/>
                <a:cs typeface="Arial"/>
              </a:rPr>
              <a:t>DIFFICULT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D00992-FD87-47BA-89EF-4A117EBC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Mr Rajan says no. The agent excludes it and searches again.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26FD0B-DD7B-4BAF-BD9D-4E18653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57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5F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5F4B"/>
                </a:solidFill>
                <a:latin typeface="Arial"/>
                <a:ea typeface="Arial"/>
                <a:cs typeface="Arial"/>
              </a:rPr>
              <a:t>No consent means no booking change.</a:t>
            </a:r>
          </a:p>
        </p:txBody>
      </p:sp>
    </p:spTree>
    <p:extLst>
      <p:ext uri="{BB962C8B-B14F-4D97-AF65-F5344CB8AC3E}">
        <p14:creationId xmlns:p14="http://schemas.microsoft.com/office/powerpoint/2010/main" val="1471253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E80D96-433E-4620-8E5F-4DFED14B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55744-225B-4EA3-838C-93A7D1C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919A1-A852-41CD-905F-74D891A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HOW IT IS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EE787-3DBF-4F8C-B5A9-EBE9C248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INNOVATION · TECHNICAL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EAAEF-ED9D-4F46-A8FD-B4ED2A02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B5DEF-BAF6-4AD9-A6F9-A71A0ADC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2D00F-0213-4144-8AFD-B9EB87A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9B98-95DC-4A3C-B827-FB247A0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0668000" cy="100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Everything comes back to one question: what should I do next?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B7571-1810-44DD-BCBF-3847398E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3695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90ED-C51A-4A61-A911-EF6F6517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Customer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C3170-FBBE-4A4D-B4E3-3DCE0A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7A5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E6041-E915-471E-9E5F-FDBFD445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3695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8575">
            <a:solidFill>
              <a:srgbClr val="237A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83221-87D5-48D5-8134-F5D67BC3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1940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MAIN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20DDC-AEAD-430B-B2B5-B315AECD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Choose the next approved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EA3FA-1B36-4C0D-BBDD-65E9E006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0AB85-93DF-4D88-BBD8-D5348F9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CCBCA-D75C-42C4-B500-040DDDAE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0D55D-38B8-463D-A4D6-37301CEE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705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6D970-BA06-4E6A-A0ED-29144D6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C3E1F-7A0B-4F90-A32B-DB1125C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Find the rule</a:t>
            </a:r>
          </a:p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that applies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65D06-1C65-4DDB-BCB1-94BA2328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81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8EB90-9AF7-43BB-B9CA-D75A812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2705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9503F-5EF5-4F5E-A7BF-2635C336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862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30CED-920A-4AFA-9DFB-86B7DCFC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Calculate a</a:t>
            </a:r>
          </a:p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feasible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2A384-C32A-45A8-AD77-569DF32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711DB-64AF-46A0-AE02-69B9004D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2705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2F939-8C14-4284-A394-64A58DE6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5224D-A771-45A2-B05A-1FAFC5A6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910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Explain, confirm</a:t>
            </a:r>
          </a:p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or escalate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64E01-2D08-4DFE-953C-DFF6D704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97AA3-0783-4157-8FD5-1E90BBE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1009C-EEA7-420D-8B59-51F7F28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E2849-5C49-4DBD-8AE1-90145328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959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7F5389-A3BA-4997-A0AD-34AF9549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↺ read the result and decide again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0D8332-C31B-4B05-83E7-09BACDFA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5219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307A97-69F0-463F-A74E-E86523CD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57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573E"/>
                </a:solidFill>
                <a:latin typeface="Arial"/>
                <a:ea typeface="Arial"/>
                <a:cs typeface="Arial"/>
              </a:rPr>
              <a:t>AI: language and action selection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8FD62-33E6-43B5-A7A5-C82777F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72150"/>
            <a:ext cx="5600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DA9661-74A5-4907-8D3B-FEF5C62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7215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35E"/>
                </a:solidFill>
                <a:latin typeface="Arial"/>
                <a:ea typeface="Arial"/>
                <a:cs typeface="Arial"/>
              </a:rPr>
              <a:t>CODE: dates, distance, consent and route truth</a:t>
            </a:r>
          </a:p>
        </p:txBody>
      </p:sp>
    </p:spTree>
    <p:extLst>
      <p:ext uri="{BB962C8B-B14F-4D97-AF65-F5344CB8AC3E}">
        <p14:creationId xmlns:p14="http://schemas.microsoft.com/office/powerpoint/2010/main" val="920664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2163B3-70BF-429F-B546-13104632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B9C8F-EB29-4B57-90B3-1492594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7C41-6DE2-42A6-B29A-C4A664D0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FITTING PEOPLE 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E9F04-CAD4-4D67-A918-3B847ACF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INNOVATION · TECHNICAL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AC456-FE30-46DB-8B4D-E8621101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25328-D0E2-4BC0-8D16-D2F9F4ED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180BD-C1F4-406E-BEA6-411C7BC0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F8D52-1334-49A3-B8E6-1421CAC0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953500" cy="1073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Slide them into the day. Don’t rebuild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BB817-EE15-408A-9D51-60215574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219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E7175-4334-42E6-ABF8-8ADF5C3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FRIDAY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A0222-3A21-430C-A6D4-4DA6498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North · North-East · South · East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F7D53-8E30-44EA-A2B1-B734F13B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90700"/>
            <a:ext cx="560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325EA-5A55-41BE-8538-ABB51F6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SATURDAY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D1888-5A88-4B5D-9042-77C867F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Central · City · West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B3C46-27EF-47FB-A379-5EDA55F3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Published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5B7C9-40A0-49AF-8462-48CA797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D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C6AA3-0645-4DAF-BBAC-5FBABE32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14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D242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A1E4C-034C-472E-9698-7A3EBA8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Depot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14415-B8FD-4DCA-987E-72BD664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14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D242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A5B76-4256-460B-B546-E296891E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Stop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6ACF5-AA77-4B79-B157-7097D84D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8FD94-9F05-43C5-A840-678EE850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86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98485-2248-4567-982C-662F7072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14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D242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047EC-D96E-4BDD-9083-6E24C24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Stop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38F4A-8034-41D8-BAD0-1259DFD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514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D242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F232E-83E0-48E9-8BA9-35B0650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86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Depot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1A42A-A755-4C53-9556-A636F90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794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Try before and after nearby stops, then re-check every later promise.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38A1E-3A90-4C78-9120-1B1544CF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139E8-4BDD-4F37-87D5-E69712A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Never shuffle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A973A-2E86-4849-B5CF-4A29F45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Confirmed stop order stays put.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B7140-D165-4EB1-A0C0-51066367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CA0B4-0E9F-4AB5-AE14-FFB047C3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Never make late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5CB72-2228-48C1-BBED-A656BEBC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76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Every later window is checked.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6417C4-B9C5-4540-98C6-66DBC27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91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E0E2F-F2A9-4192-8E90-352CE88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Only valid days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B01B3F-4B29-4822-A170-EE797C1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76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Scope is enforced by the tool.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04039-F1AA-44A3-AD6B-571BBD4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91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27899D-E7EB-40FB-81D6-86FC635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2421"/>
                </a:solidFill>
                <a:latin typeface="Arial"/>
                <a:ea typeface="Arial"/>
                <a:cs typeface="Arial"/>
              </a:rPr>
              <a:t>One or three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18A1E-5584-4BA2-ACE7-8A15BAC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768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Three fallbacks only after a no.</a:t>
            </a:r>
          </a:p>
        </p:txBody>
      </p:sp>
    </p:spTree>
    <p:extLst>
      <p:ext uri="{BB962C8B-B14F-4D97-AF65-F5344CB8AC3E}">
        <p14:creationId xmlns:p14="http://schemas.microsoft.com/office/powerpoint/2010/main" val="968630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24E94F-0DC1-48E9-A22F-1F419F4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3BD5C-AFCC-4E21-8D80-3A2C289A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65238-63F7-44E6-B23B-384D91A4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THE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9B6A7-9870-4AF7-A2F3-C1F15B2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EFFECTIVENESS · TECHNICAL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BB49A-D62C-4350-A010-6E12F8DE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00442-EDF0-4D7C-A01A-B8FF437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A773D-7224-439F-977E-A84F8EFD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2958B-360E-4E16-A141-84703C7D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0477500" cy="100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The customer sees one answer. The coordinator can inspect the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E3A23-B6AB-48F5-A004-FB285CD5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495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8CD8E-21D8-4789-B11D-02E0755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495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0EE"/>
          </a:solidFill>
          <a:ln xmlns:a="http://schemas.openxmlformats.org/drawingml/2006/main" w="0">
            <a:solidFill>
              <a:srgbClr val="EEF0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AAB9A-D909-47FF-B4D5-13376AB7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F0959-3FAC-4E17-BD0C-C6F50EC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Every job and its booking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0F8E1-C401-4C80-B877-2DCF336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C11DA-B2B9-4ADE-9301-F2797927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Confirmed</a:t>
            </a:r>
          </a:p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Offer sent</a:t>
            </a:r>
          </a:p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08334-A591-4CF5-9493-A5E9E2A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495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241A6-4166-46E1-B78D-B97FE3D7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495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0EE"/>
          </a:solidFill>
          <a:ln xmlns:a="http://schemas.openxmlformats.org/drawingml/2006/main" w="0">
            <a:solidFill>
              <a:srgbClr val="EEF0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7301A-2A5F-498A-B1A5-04A2686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478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DAILY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43BE-8A64-45C1-AF5D-407C7BF0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Published route versions in visiting 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56AFD-6D4B-4C82-B7FC-981D221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56D6A-DE0C-4461-8E96-BEB290A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v1 → v2</a:t>
            </a:r>
          </a:p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New stop highlighted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2B864-BAC4-46E6-98EC-76D47CC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495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7A5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421B3-6A97-4562-9AD5-001AD2D1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495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F3B93-7596-4EE1-8811-F7EC4FA3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CUSTOMER CHAT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E3BBA-7449-444A-9341-0C3E697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The conversation and decision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00589-713D-4B62-BD0C-5D878DE0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BDA6B7-A109-4B87-948A-5C00EDB9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Function calls</a:t>
            </a:r>
          </a:p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Route evidence</a:t>
            </a:r>
          </a:p>
          <a:p xmlns:a="http://schemas.openxmlformats.org/drawingml/2006/main">
            <a:pPr>
              <a:defRPr sz="1125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Decision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34D04-2FB3-4B09-ACDD-2430927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2705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BBE2F-0AE2-4D91-8833-7BAFAABC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9347C-CCAE-46A0-B08B-FD3053E0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66C81-3676-4E60-A01D-8C372B8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2421"/>
                </a:solidFill>
                <a:latin typeface="Arial"/>
                <a:ea typeface="Arial"/>
                <a:cs typeface="Arial"/>
              </a:rPr>
              <a:t>Read the message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ECA37-4E97-461D-828C-85A6CD63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0457E3-3BEF-408E-BF21-685EE6AF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2421"/>
                </a:solidFill>
                <a:latin typeface="Arial"/>
                <a:ea typeface="Arial"/>
                <a:cs typeface="Arial"/>
              </a:rPr>
              <a:t>Checked the route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243C06-5842-4397-9F9A-B1AC5ED3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BBCC2-A0B6-4BF1-A33E-FF86F5B8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04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2421"/>
                </a:solidFill>
                <a:latin typeface="Arial"/>
                <a:ea typeface="Arial"/>
                <a:cs typeface="Arial"/>
              </a:rPr>
              <a:t>Rejected unsafe slots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52C08-8BBB-4408-B169-ED8C2EED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57DEE1-8B5B-45BA-A11D-17C44B9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42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2421"/>
                </a:solidFill>
                <a:latin typeface="Arial"/>
                <a:ea typeface="Arial"/>
                <a:cs typeface="Arial"/>
              </a:rPr>
              <a:t>Sent one reply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EAB6C2-2B6E-4A34-B8C0-CC50E18C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WORKING STACK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384448-68DF-4C3B-A2A7-84F7423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Python · FastAPI · Next.js · LangGraph · AWS Bedrock · OR-Tools · SQLite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913863-B113-49BE-9830-04000E29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Every tool result is persisted. The panel is evidence from the run, not a generated explanation of what might have happened.</a:t>
            </a:r>
          </a:p>
        </p:txBody>
      </p:sp>
    </p:spTree>
    <p:extLst>
      <p:ext uri="{BB962C8B-B14F-4D97-AF65-F5344CB8AC3E}">
        <p14:creationId xmlns:p14="http://schemas.microsoft.com/office/powerpoint/2010/main" val="1542004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2E95B-5A10-4425-9729-DD6F2635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2168F-75C5-4F19-9D7E-4EBBA8E5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EAC67-658B-4B8D-85EE-D9F3135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93E2D-24EB-4EE5-8241-EC9B35DB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705E5-95E5-4765-BEBF-78DF4B5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8DC40-FD12-4179-A280-AE6C13C0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9EAC2-437C-45B4-A28D-C244CCA6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960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TEAM MAJESTIC FIGHTERS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6C041-61B1-441C-9900-61E2627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0287000" cy="1073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D242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1D2421"/>
                </a:solidFill>
                <a:latin typeface="Georgia"/>
                <a:ea typeface="Georgia"/>
                <a:cs typeface="Georgia"/>
              </a:rPr>
              <a:t>An afternoon of texting becomes something that answers itself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3D5D7-6D5C-410D-9BFB-130C18D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87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8782"/>
                </a:solidFill>
                <a:latin typeface="Arial"/>
                <a:ea typeface="Arial"/>
                <a:cs typeface="Arial"/>
              </a:rPr>
              <a:t>BY HAND 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BAF30-B10F-409F-B18F-A67ED44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WITH DISPATCH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15560-11F5-457B-837C-A98ED0E6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0BD84-6D15-49D8-86BB-E7B75DD1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Chase dozens of replies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B43D2-7BF1-4705-BA49-FBC3D3FE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574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2F273-8CE7-4B03-AC5E-563C73D7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23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ECC53-FE1C-4093-AFD5-AB024FAE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7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3E"/>
                </a:solidFill>
                <a:latin typeface="Arial"/>
                <a:ea typeface="Arial"/>
                <a:cs typeface="Arial"/>
              </a:rPr>
              <a:t>Answer each customer as they reply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D94C5-3B2B-4B27-9E7B-07E24E7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C3F77-84F5-45CC-B129-1DB634B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A rejection starts another manual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65E81-9077-4B70-8AD8-854AB93B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25290-B926-44F1-B756-4E9C622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523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7343A-A0E0-4A20-964F-8889957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7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3E"/>
                </a:solidFill>
                <a:latin typeface="Arial"/>
                <a:ea typeface="Arial"/>
                <a:cs typeface="Arial"/>
              </a:rPr>
              <a:t>Exclude it and replan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75BD6-8212-466B-B641-73909FB5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DFCBB-F424-486C-9580-3978AC94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The plan lives in one person’s 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A99B4-D773-4452-958E-F74F28B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147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8A415-8448-4C31-81AE-83BCE42D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523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58695F-DD5A-4DB1-BF21-0BDD87D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7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3E"/>
                </a:solidFill>
                <a:latin typeface="Arial"/>
                <a:ea typeface="Arial"/>
                <a:cs typeface="Arial"/>
              </a:rPr>
              <a:t>Every decision remains inspectable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9BDE0-4AA8-4E79-A2DB-412A05E5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309BD-AD18-43D7-B0BF-B3675D5F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5E"/>
                </a:solidFill>
                <a:latin typeface="Arial"/>
                <a:ea typeface="Arial"/>
                <a:cs typeface="Arial"/>
              </a:rPr>
              <a:t>Drivers reconcile times on the road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7F6CD-338A-4042-82DB-5A197D36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433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635E1-77C4-4ACD-9DCC-06C71317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523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solidFill>
              <a:srgbClr val="E8F2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3D3961-91A4-4D55-B3F3-F3C97E95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7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3E"/>
                </a:solidFill>
                <a:latin typeface="Arial"/>
                <a:ea typeface="Arial"/>
                <a:cs typeface="Arial"/>
              </a:rPr>
              <a:t>Publish a route from accepted promises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7D208-D9F3-4A23-8216-F4A313D4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1068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D2421"/>
          </a:solidFill>
          <a:ln xmlns:a="http://schemas.openxmlformats.org/drawingml/2006/main" w="0">
            <a:solidFill>
              <a:srgbClr val="1D242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593E0C-5D97-4415-A4A1-414F1E3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customer gets a time they agreed to.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driver gets a route that makes sense.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B0F9C-F042-49F3-BA50-F622B171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81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6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6E0"/>
                </a:solidFill>
                <a:latin typeface="Arial"/>
                <a:ea typeface="Arial"/>
                <a:cs typeface="Arial"/>
              </a:rPr>
              <a:t>The coordinator handles exceptions instead of spending the day on WhatsApp.</a:t>
            </a:r>
          </a:p>
        </p:txBody>
      </p:sp>
    </p:spTree>
    <p:extLst>
      <p:ext uri="{BB962C8B-B14F-4D97-AF65-F5344CB8AC3E}">
        <p14:creationId xmlns:p14="http://schemas.microsoft.com/office/powerpoint/2010/main" val="1735754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2026-09-06T13:15:34.7390000Z</dcterms:created>
  <dcterms:modified xsi:type="dcterms:W3CDTF">2026-09-06T13:15:34.7390000Z</dcterms:modified>
</coreProperties>
</file>