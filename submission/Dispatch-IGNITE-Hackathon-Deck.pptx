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25d18958a64edc" /><Relationship Type="http://schemas.openxmlformats.org/officeDocument/2006/relationships/extended-properties" Target="/docProps/app.xml" Id="Ree0c5815bbfb4e89" /><Relationship Type="http://schemas.openxmlformats.org/officeDocument/2006/relationships/officeDocument" Target="/ppt/presentation.xml" Id="Rc4bcdcf9b5494a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1cf40dfab84276"/>
  </p:sldMasterIdLst>
  <p:notesMasterIdLst>
    <p:notesMasterId xmlns:r="http://schemas.openxmlformats.org/officeDocument/2006/relationships" r:id="R9ed81da1e7994abe"/>
  </p:notesMasterIdLst>
  <p:sldIdLst>
    <p:sldId xmlns:r="http://schemas.openxmlformats.org/officeDocument/2006/relationships" id="256" r:id="R3452a7178e0b4b06"/>
    <p:sldId xmlns:r="http://schemas.openxmlformats.org/officeDocument/2006/relationships" id="257" r:id="Ree4deb33609a4ebf"/>
    <p:sldId xmlns:r="http://schemas.openxmlformats.org/officeDocument/2006/relationships" id="258" r:id="Rdcb5d6c5247b450a"/>
    <p:sldId xmlns:r="http://schemas.openxmlformats.org/officeDocument/2006/relationships" id="259" r:id="R3e58ef4ed97241d2"/>
    <p:sldId xmlns:r="http://schemas.openxmlformats.org/officeDocument/2006/relationships" id="260" r:id="R994c74de190a4f79"/>
    <p:sldId xmlns:r="http://schemas.openxmlformats.org/officeDocument/2006/relationships" id="261" r:id="R7822d2e069f844c2"/>
    <p:sldId xmlns:r="http://schemas.openxmlformats.org/officeDocument/2006/relationships" id="262" r:id="R874099fb945244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ebc9dee0bc48f6" /><Relationship Type="http://schemas.openxmlformats.org/officeDocument/2006/relationships/slideMaster" Target="/ppt/slideMasters/slideMaster1.xml" Id="R6c1cf40dfab84276" /><Relationship Type="http://schemas.openxmlformats.org/officeDocument/2006/relationships/notesMaster" Target="/ppt/notesMasters/notesMaster1.xml" Id="R9ed81da1e7994abe" /><Relationship Type="http://schemas.openxmlformats.org/officeDocument/2006/relationships/presProps" Target="/ppt/presProps.xml" Id="Rbb502739cad04cd7" /><Relationship Type="http://schemas.openxmlformats.org/officeDocument/2006/relationships/tableStyles" Target="/ppt/tableStyles.xml" Id="R958753effebb485d" /><Relationship Type="http://schemas.openxmlformats.org/officeDocument/2006/relationships/slide" Target="/ppt/slides/slide1.xml" Id="R3452a7178e0b4b06" /><Relationship Type="http://schemas.openxmlformats.org/officeDocument/2006/relationships/slide" Target="/ppt/slides/slide2.xml" Id="Ree4deb33609a4ebf" /><Relationship Type="http://schemas.openxmlformats.org/officeDocument/2006/relationships/slide" Target="/ppt/slides/slide3.xml" Id="Rdcb5d6c5247b450a" /><Relationship Type="http://schemas.openxmlformats.org/officeDocument/2006/relationships/slide" Target="/ppt/slides/slide4.xml" Id="R3e58ef4ed97241d2" /><Relationship Type="http://schemas.openxmlformats.org/officeDocument/2006/relationships/slide" Target="/ppt/slides/slide5.xml" Id="R994c74de190a4f79" /><Relationship Type="http://schemas.openxmlformats.org/officeDocument/2006/relationships/slide" Target="/ppt/slides/slide6.xml" Id="R7822d2e069f844c2" /><Relationship Type="http://schemas.openxmlformats.org/officeDocument/2006/relationships/slide" Target="/ppt/slides/slide7.xml" Id="R874099fb945244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1cc1bc86a446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891f5832a543cc" /><Relationship Type="http://schemas.openxmlformats.org/officeDocument/2006/relationships/notesMaster" Target="/ppt/notesMasters/notesMaster1.xml" Id="R349065f9b99540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d1fc167a7846fe" /><Relationship Type="http://schemas.openxmlformats.org/officeDocument/2006/relationships/notesMaster" Target="/ppt/notesMasters/notesMaster1.xml" Id="R4a7fdf8156a24c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5c80569cc44eb9" /><Relationship Type="http://schemas.openxmlformats.org/officeDocument/2006/relationships/notesMaster" Target="/ppt/notesMasters/notesMaster1.xml" Id="Rb66807bb06f344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97a17c789c4a7c" /><Relationship Type="http://schemas.openxmlformats.org/officeDocument/2006/relationships/notesMaster" Target="/ppt/notesMasters/notesMaster1.xml" Id="R8b83194ceb2042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57d462729e4f19" /><Relationship Type="http://schemas.openxmlformats.org/officeDocument/2006/relationships/notesMaster" Target="/ppt/notesMasters/notesMaster1.xml" Id="Rec0fe832bd0d4a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b0d22ffb194431" /><Relationship Type="http://schemas.openxmlformats.org/officeDocument/2006/relationships/notesMaster" Target="/ppt/notesMasters/notesMaster1.xml" Id="R3fb96cc1055f44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f15912f8f64b73" /><Relationship Type="http://schemas.openxmlformats.org/officeDocument/2006/relationships/notesMaster" Target="/ppt/notesMasters/notesMaster1.xml" Id="R1f06d80aadbc4e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client use case: Floof.sg, attended fresh-pet-food delivery in Singapore.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Floof.sg handles 30–40 attended deliveries on a busy day. Customer availability and route feasibility must be solved together.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customer paths run through the same API and persisted agent loop.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AWS Bedrock handles language and action selection. LangGraph runs the bounded loop. Deterministic Python and OR-Tools own route truth and permissions.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Friday/Saturday clusters and customer records are synthetic prototype assumptions used for a repeatable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channel is a WhatsApp-style web thread. Model and routing providers also have deterministic offline paths for reproducible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Benefits are demonstrated through the happy path, rejection path, persisted route version and zero-moved-promises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d656c936234f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867a73c5b84ac2" /><Relationship Type="http://schemas.openxmlformats.org/officeDocument/2006/relationships/slideLayout" Target="/ppt/slideLayouts/slideLayout1.xml" Id="Rbb580d5a1ac146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580d5a1ac146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dcd3feee64246" /><Relationship Type="http://schemas.openxmlformats.org/officeDocument/2006/relationships/notesSlide" Target="/ppt/notesSlides/notesSlide1.xml" Id="R26b3037acf7245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58586e502460a" /><Relationship Type="http://schemas.openxmlformats.org/officeDocument/2006/relationships/image" Target="/ppt/media/image.png" Id="Rd0aeeb86a6bb4cd2" /><Relationship Type="http://schemas.openxmlformats.org/officeDocument/2006/relationships/image" Target="/ppt/media/image.svg" Id="R29e17780954e4d15" /><Relationship Type="http://schemas.openxmlformats.org/officeDocument/2006/relationships/notesSlide" Target="/ppt/notesSlides/notesSlide2.xml" Id="Rc73e28e235784d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84457fc214668" /><Relationship Type="http://schemas.openxmlformats.org/officeDocument/2006/relationships/notesSlide" Target="/ppt/notesSlides/notesSlide3.xml" Id="R3cbf7d5cfa714f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9d318ba4144a4" /><Relationship Type="http://schemas.openxmlformats.org/officeDocument/2006/relationships/notesSlide" Target="/ppt/notesSlides/notesSlide4.xml" Id="R2bac780eee0c41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864726ee24e73" /><Relationship Type="http://schemas.openxmlformats.org/officeDocument/2006/relationships/notesSlide" Target="/ppt/notesSlides/notesSlide5.xml" Id="Rdfd1479ba92a4c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e9e13fe614bca" /><Relationship Type="http://schemas.openxmlformats.org/officeDocument/2006/relationships/notesSlide" Target="/ppt/notesSlides/notesSlide6.xml" Id="Rc718078a92af4f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0df6748e5e45b9" /><Relationship Type="http://schemas.openxmlformats.org/officeDocument/2006/relationships/notesSlide" Target="/ppt/notesSlides/notesSlide7.xml" Id="R5760a2d593cf4a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F1CE8A-127F-4D91-918C-2498F814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44DFB-963B-4544-8BED-1D7A6EDC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3402F-8828-47BC-B9DA-60EFC689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DCE48-FD1B-4E26-BBA1-52EE1723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544DE-FC23-4CC0-812F-651CA18E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90780-56F7-466A-9554-A0CEE447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EFE50-3190-42A3-870C-01AC1B11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DDDCE-B2B5-4485-A569-75ABAF0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57250"/>
            <a:ext cx="6572250" cy="12601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0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40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Nobody should spend an afternoon asking forty people when they are home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EE509-4458-4A82-9A8F-D454C019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An AI delivery coordinator that agrees a time by text, checks the published route and only offers windows the van can keep.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DA143-25F9-4EAF-8F8B-2387265C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2076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37294-5EE4-476E-9480-DA89BFE0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FLOOF.SG · SINGAPORE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FB8A1-5D38-40C6-8C6A-20B3E114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2190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37A67-DB1A-4B88-890E-606CD723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IGNITE 2026 · DIGITAL 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811F3-7EBE-40E7-8C36-F2C8A0F9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86300"/>
            <a:ext cx="19240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46B37-638E-4E3C-9160-4DF635B3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86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MAJESTIC FIGHTERS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910EA-C5A1-49F4-82B8-22E9CD44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066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21881-3150-498C-988C-153AB158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PROMISE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7F0602-E483-4C7F-9839-0954C986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291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5F1AA7-ACEB-438C-8AEA-3FB9EA65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287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076E18-C639-47D6-A204-4A176733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428750"/>
            <a:ext cx="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E66BD-C0AC-4090-B763-76B3BC5B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432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D9A70A-5FB2-41CB-8C17-4BCEE79C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43250"/>
            <a:ext cx="0" cy="1714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237A5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E0FBB4-FAA3-4E80-AB12-3DC5EB41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266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37A5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4F9CD8-433F-48E0-876C-0C486451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C0F0D1-3A94-47C7-A822-01527389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695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37A5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3268FF-C93C-4A26-9084-30793D19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143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5F4B"/>
          </a:solidFill>
          <a:ln xmlns:a="http://schemas.openxmlformats.org/drawingml/2006/main" w="9525">
            <a:solidFill>
              <a:srgbClr val="B75F4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F3D03A-DC1E-4DC9-B1ED-9C3B57AA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905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5F4B"/>
          </a:solidFill>
          <a:ln xmlns:a="http://schemas.openxmlformats.org/drawingml/2006/main" w="9525">
            <a:solidFill>
              <a:srgbClr val="B75F4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65E4F0-16CD-40CE-8188-D3E28608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One loop connects the customer decision to the operational plan.</a:t>
            </a:r>
          </a:p>
        </p:txBody>
      </p:sp>
    </p:spTree>
    <p:extLst>
      <p:ext uri="{BB962C8B-B14F-4D97-AF65-F5344CB8AC3E}">
        <p14:creationId xmlns:p14="http://schemas.microsoft.com/office/powerpoint/2010/main" val="10503292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E5EEBA-28EE-414D-A6BC-87BD12B9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4D202-6637-47C7-AA89-792CFB27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2E256-A223-4355-8325-3D6FF896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D323C-A37E-4607-97F9-FE460896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BENEFITS ·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CE4E3A-0780-4EC3-858F-E4DB472B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30C1A-4C95-497D-A0ED-AA907611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A4A65-44C8-4DA1-9416-60842FF6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B84C8-AE30-4BE2-AEDA-D0715893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7630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Two hard jobs, both done by hand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468F6-0614-4D53-9C02-AA27997C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Attended deliveries need a customer-approved time and a route that can still keep 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31283-2864-4A19-9C87-1BF11532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5F1A9-D1E5-4D5A-834F-05830DD7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30–40 deliveries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64DE0-DBA2-4AFD-B9E6-A0C4C16B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 a busy day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69418-7164-4882-B05E-1E387B87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90473-B17A-4F2B-BDB3-1DC86A3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A1D3C-6426-4E1F-9545-DD3E068A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609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D366"/>
          </a:solidFill>
          <a:ln xmlns:a="http://schemas.openxmlformats.org/drawingml/2006/main" w="0">
            <a:solidFill>
              <a:srgbClr val="25D366"/>
            </a:solidFill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eeb86a6bb4cd2">
            <a:extLst>
              <a:ext uri="{96DAC541-7B7A-43D3-8B79-37D633B846F1}">
                <asvg:svgBlip xmlns:asvg="http://schemas.microsoft.com/office/drawing/2016/SVG/main" r:embed="R29e17780954e4d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95725" y="2667000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744EF-07DB-4693-B038-4288878C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09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One coordinator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E36CA-4AED-48EC-BAC5-A4DC67BC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asking customers</a:t>
            </a:r>
          </a:p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 WhatsApp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F05FA4-73A9-4738-8281-CE8CB8BE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9560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29C4C8-6F0B-4D33-82B3-60EA069D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266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7EAE6"/>
          </a:solidFill>
          <a:ln xmlns:a="http://schemas.openxmlformats.org/drawingml/2006/main" w="19050">
            <a:solidFill>
              <a:srgbClr val="B75F4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327C2A-9412-4E52-827F-10835209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B75F4B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B75F4B"/>
                </a:solidFill>
                <a:latin typeface="Georgia"/>
                <a:ea typeface="Georgia"/>
                <a:cs typeface="Georgia"/>
              </a:rPr>
              <a:t>One “no”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CA0F57-31F7-4EF4-A340-E4C253F1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9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starts another route 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95EFAE-EE54-4317-86D2-C130BFF2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53530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94166C-E8DC-4305-B98B-668E59CC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THE BOTTLENECK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012841-82F7-4BB4-9D8C-5C71B165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5573E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15573E"/>
                </a:solidFill>
                <a:latin typeface="Georgia"/>
                <a:ea typeface="Georgia"/>
                <a:cs typeface="Georgia"/>
              </a:rPr>
              <a:t>Customer availability becomes route input.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77BDEE-FEAA-4C2C-AA4D-D7BB280D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One “no” starts another route search.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3DB597-334A-482F-8E22-1DA7002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386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The actual problem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86D718-A44D-449F-B81F-524FB769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91050"/>
            <a:ext cx="4762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Agree the time and keep the route sensible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12646258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18ED09-F13A-44F9-97D7-3815725B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CF63C-4933-42DC-946B-44C487FF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4CD09-0119-47CD-862E-9315D736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WHAT WE BUILT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C26B9-34B6-403C-9DC3-C5F86A96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EFFECTIVENESS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7F11D-9EB0-4509-BB06-F7452D67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B237D-70BC-4DAF-9370-79F6E02E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BA20B-46EC-476B-9CDD-2B738004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68A0F-05A0-473D-9F6E-0379F5E4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10501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7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customer texts. The agent replies with a time it can keep.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41EB3-A06F-4F32-9042-7F60729B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9D07D-64F6-4E6A-9608-F2AB65FE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855746-3066-4BE2-A333-7ADD0B34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94EBE-34F1-48CC-B141-42137CF1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writes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74CF6-531C-4B46-9030-2E819A76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ordinary language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BF467-AD20-496D-A5C0-0540F6D4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E4943-C984-4713-9033-6A7157C2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8BF3E-D528-45D2-8159-1EC2A99B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11466-54B3-4F4C-8791-9F209BAA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DF4DCF-A2C4-4AE5-8701-AD60D8A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Agent checks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B02946-053A-47BA-92FC-125C297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published route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6E07DC-7553-4CD7-ABEB-D4DAC0E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EB628A-D8F6-45CC-B063-B9BA6FAE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8CCFD-DED1-4EAC-8AB8-D78B5971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DC15A9-A0E6-4C99-8160-128AE7F8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0A8993-2A78-4AC0-9E7F-6463509A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Agent offers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44CC56-D8EB-47A5-8810-AE73014F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feasible window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8B880A-4A4F-4C15-9123-F60287AE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E5DBF1-A298-4C88-88B6-FEC0DD88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237A5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5718E-776E-46EC-9628-4E5FAD4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5431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2421"/>
          </a:solidFill>
          <a:ln xmlns:a="http://schemas.openxmlformats.org/drawingml/2006/main" w="9525">
            <a:solidFill>
              <a:srgbClr val="1D242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BED743-0A2E-4A65-956A-95F11211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54317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F697B-DC66-4ECA-9635-E5049D9E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908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decides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574D05-7A82-43BD-9A8D-D4D0F9DC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337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accept or reject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C25391-23C4-4687-8D1F-26E2ADCD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2197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93C3E4-6F07-43A5-98EC-6D8FE77D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HAPPY 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C98F90-4F3C-400F-BA48-80D2054E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9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Mrs Chua accepts the first offer.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A87FC3-BDF3-4088-B6C9-298C51FD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One search · one offer · one confirmation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C9525D-393F-4265-A139-6E598281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56007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7EAE6"/>
          </a:solidFill>
          <a:ln xmlns:a="http://schemas.openxmlformats.org/drawingml/2006/main" w="0">
            <a:solidFill>
              <a:srgbClr val="F7EA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620C6C-2F55-4CFD-9A93-FAFC0B6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38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B75F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75F4B"/>
                </a:solidFill>
                <a:latin typeface="Arial"/>
                <a:ea typeface="Arial"/>
                <a:cs typeface="Arial"/>
              </a:rPr>
              <a:t>DIFFICULT PATH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D00992-FD87-47BA-89EF-4A117EBC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Mr Rajan says no. The agent excludes it and searches again.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26FD0B-DD7B-4BAF-BD9D-4E18653C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57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B75F4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75F4B"/>
                </a:solidFill>
                <a:latin typeface="Arial"/>
                <a:ea typeface="Arial"/>
                <a:cs typeface="Arial"/>
              </a:rPr>
              <a:t>No consent means no booking change.</a:t>
            </a:r>
          </a:p>
        </p:txBody>
      </p:sp>
    </p:spTree>
    <p:extLst>
      <p:ext uri="{BB962C8B-B14F-4D97-AF65-F5344CB8AC3E}">
        <p14:creationId xmlns:p14="http://schemas.microsoft.com/office/powerpoint/2010/main" val="14712535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E80D96-433E-4620-8E5F-4DFED14B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55744-225B-4EA3-838C-93A7D1C4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919A1-A852-41CD-905F-74D891A6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HOW IT IS BUILT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EE787-3DBF-4F8C-B5A9-EBE9C248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INNOVATION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EAAEF-ED9D-4F46-A8FD-B4ED2A02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B5DEF-BAF6-4AD9-A6F9-A71A0ADC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2D00F-0213-4144-8AFD-B9EB87A3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79B98-95DC-4A3C-B827-FB247A04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100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Everything comes back to one question: what should I do next?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B7571-1810-44DD-BCBF-3847398E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85950"/>
            <a:ext cx="36957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B90ED-C51A-4A61-A911-EF6F6517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8595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Customer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C3170-FBBE-4A4D-B4E3-3DCE0A0F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66975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7A5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E6041-E915-471E-9E5F-FDBFD445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81300"/>
            <a:ext cx="36957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8575">
            <a:solidFill>
              <a:srgbClr val="237A5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83221-87D5-48D5-8134-F5D67BC3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194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MAIN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20DDC-AEAD-430B-B2B5-B315AECD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861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6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Choose the next approved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EA3FA-1B36-4C0D-BBDD-65E9E00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0AB85-93DF-4D88-BBD8-D5348F9E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814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CCBCA-D75C-42C4-B500-040DDDAE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B0D55D-38B8-463D-A4D6-37301CEE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36D970-BA06-4E6A-A0ED-29144D6D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7C3E1F-7A0B-4F90-A32B-DB1125C8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Find the rule</a:t>
            </a:r>
          </a:p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that applies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065D06-1C65-4DDB-BCB1-94BA2328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8EB90-9AF7-43BB-B9CA-D75A8126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9503F-5EF5-4F5E-A7BF-2635C336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E30CED-920A-4AFA-9DFB-86B7DCFC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Calculate a</a:t>
            </a:r>
          </a:p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feasible window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2A384-C32A-45A8-AD77-569DF32C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814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A711DB-64AF-46A0-AE02-69B9004D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2705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D2F939-8C14-4284-A394-64A58DE6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862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55224D-A771-45A2-B05A-1FAFC5A6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910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Explain, confirm</a:t>
            </a:r>
          </a:p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or escalate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D64E01-2D08-4DFE-953C-DFF6D704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292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A97AA3-0783-4157-8FD5-1E90BBE5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F1009C-EEA7-420D-8B59-51F7F280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AE2849-5C49-4DBD-8AE1-90145328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95900"/>
            <a:ext cx="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7F5389-A3BA-4997-A0AD-34AF9549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524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↺ read the result and decide again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0D8332-C31B-4B05-83E7-09BACDFA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5219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307A97-69F0-463F-A74E-E86523CD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AI: language and action selection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58FD62-33E6-43B5-A7A5-C82777FB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772150"/>
            <a:ext cx="5600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DA9661-74A5-4907-8D3B-FEF5C623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7215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9635E"/>
                </a:solidFill>
                <a:latin typeface="Arial"/>
                <a:ea typeface="Arial"/>
                <a:cs typeface="Arial"/>
              </a:rPr>
              <a:t>CODE: dates, distance, consent and route truth</a:t>
            </a:r>
          </a:p>
        </p:txBody>
      </p:sp>
    </p:spTree>
    <p:extLst>
      <p:ext uri="{BB962C8B-B14F-4D97-AF65-F5344CB8AC3E}">
        <p14:creationId xmlns:p14="http://schemas.microsoft.com/office/powerpoint/2010/main" val="9206649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2163B3-70BF-429F-B546-13104632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B9C8F-EB29-4B57-90B3-14925946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27C41-6DE2-42A6-B29A-C4A664D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FITTING PEOPLE 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E9F04-CAD4-4D67-A918-3B847ACF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INNOVATION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AC456-FE30-46DB-8B4D-E8621101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25328-D0E2-4BC0-8D16-D2F9F4ED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180BD-C1F4-406E-BEA6-411C7BC0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F8D52-1334-49A3-B8E6-1421CAC0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9535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Slide them into the day. Don’t rebuild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BB817-EE15-408A-9D51-60215574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21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1E7175-4334-42E6-ABF8-8ADF5C34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DEMO FRIDAY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A0222-3A21-430C-A6D4-4DA6498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68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North · North-East · South · East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F7D53-8E30-44EA-A2B1-B734F13B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90700"/>
            <a:ext cx="5600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325EA-5A55-41BE-8538-ABB51F6F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0500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DEMO SATURDAY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D1888-5A88-4B5D-9042-77C867FF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Central · City · West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1B3C46-27EF-47FB-A379-5EDA55F3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Published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5B7C9-40A0-49AF-8462-48CA7976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C6AA3-0645-4DAF-BBAC-5FBABE32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2A1E4C-034C-472E-9698-7A3EBA8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Depot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14415-B8FD-4DCA-987E-72BD6643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1A5B76-4256-460B-B546-E296891E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Stop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6ACF5-AA77-4B79-B157-7097D84D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67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8FD94-9F05-43C5-A840-678EE850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NEW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98485-2248-4567-982C-662F7072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8047EC-D96E-4BDD-9083-6E24C247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Stop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138F4A-8034-41D8-BAD0-1259DFD3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3514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D242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DF232E-83E0-48E9-8BA9-35B06502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862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Depot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41A42A-A755-4C53-9556-A636F902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362450"/>
            <a:ext cx="794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Try before and after nearby stops, then re-check every later promise.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238A1E-3A90-4C78-9120-1B1544CF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139E8-4BDD-4F37-87D5-E69712AA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Never shuffle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AA973A-2E86-4849-B5CF-4A29F458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Confirmed stop order stays put.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1B7140-D165-4EB1-A0C0-51066367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8CA0B4-0E9F-4AB5-AE14-FFB047C3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Never make late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D5CB72-2228-48C1-BBED-A656BEBC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Every later window is checked.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6417C4-B9C5-4540-98C6-66DBC275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9E0E2F-F2A9-4192-8E90-352CE88B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Only valid days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B01B3F-4B29-4822-A170-EE797C1E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Scope is enforced by the tool.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F04039-F1AA-44A3-AD6B-571BBD43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9911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27899D-E7EB-40FB-81D6-86FC635E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D2421"/>
                </a:solidFill>
                <a:latin typeface="Arial"/>
                <a:ea typeface="Arial"/>
                <a:cs typeface="Arial"/>
              </a:rPr>
              <a:t>One or three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418A1E-5584-4BA2-ACE7-8A15BAC4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768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Three fallbacks only after a no.</a:t>
            </a:r>
          </a:p>
        </p:txBody>
      </p:sp>
    </p:spTree>
    <p:extLst>
      <p:ext uri="{BB962C8B-B14F-4D97-AF65-F5344CB8AC3E}">
        <p14:creationId xmlns:p14="http://schemas.microsoft.com/office/powerpoint/2010/main" val="9686309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24E94F-0DC1-48E9-A22F-1F419F41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3BD5C-AFCC-4E21-8D80-3A2C289A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65238-63F7-44E6-B23B-384D91A4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9B6A7-9870-4AF7-A2F3-C1F15B27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EFFECTIVENESS · TECHNICAL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BB49A-D62C-4350-A010-6E12F8DE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00442-EDF0-4D7C-A01A-B8FF437F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A773D-7224-439F-977E-A84F8EFD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2958B-360E-4E16-A141-84703C7D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477500" cy="100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customer sees one answer. The coordinator can inspect the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E3A23-B6AB-48F5-A004-FB285CD5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8CD8E-21D8-4789-B11D-02E07557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0EE"/>
          </a:solidFill>
          <a:ln xmlns:a="http://schemas.openxmlformats.org/drawingml/2006/main" w="0">
            <a:solidFill>
              <a:srgbClr val="EEF0E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AAB9A-D909-47FF-B4D5-13376AB7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5F0959-3FAC-4E17-BD0C-C6F50EC5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Every job and its booking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0F8E1-C401-4C80-B877-2DCF336A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C11DA-B2B9-4ADE-9301-F2797927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Confirmed</a:t>
            </a:r>
          </a:p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Offer sent</a:t>
            </a:r>
          </a:p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Needs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F08334-A591-4CF5-9493-A5E9E2AC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D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3241A6-4166-46E1-B78D-B97FE3D7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0EE"/>
          </a:solidFill>
          <a:ln xmlns:a="http://schemas.openxmlformats.org/drawingml/2006/main" w="0">
            <a:solidFill>
              <a:srgbClr val="EEF0E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B7301A-2A5F-498A-B1A5-04A2686D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DAILY ROUTES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143BE-8A64-45C1-AF5D-407C7BF0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Published route versions in visiting order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A56AFD-6D4B-4C82-B7FC-981D2214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756D6A-DE0C-4461-8E96-BEB290A5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v1 → v2</a:t>
            </a:r>
          </a:p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New stop highlighted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62B864-BAC4-46E6-98EC-76D47CC6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49555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37A5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A421B3-6A97-4562-9AD5-001AD2D1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495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5F3B93-7596-4EE1-8811-F7EC4FA3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CUSTOMER CHAT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4E3BBA-7449-444A-9341-0C3E6970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717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50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The conversation and decision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00589-713D-4B62-BD0C-5D878DE0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90900"/>
            <a:ext cx="211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BDA6B7-A109-4B87-948A-5C00EDB9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86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Function calls</a:t>
            </a:r>
          </a:p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Route evidence</a:t>
            </a:r>
          </a:p>
          <a:p xmlns:a="http://schemas.openxmlformats.org/drawingml/2006/main">
            <a:pPr>
              <a:buNone/>
              <a:defRPr sz="1125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Decision outcome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334D04-2FB3-4B09-ACDD-24309276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2705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8BBE2F-0AE2-4D91-8833-7BAFAABC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526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B9347C-CCAE-46A0-B08B-FD3053E0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9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166C81-3676-4E60-A01D-8C372B88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146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Read the message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2ECA37-4E97-461D-828C-85A6CD63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0457E3-3BEF-408E-BF21-685EE6AF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575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Checked the route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243C06-5842-4397-9F9A-B1AC5ED3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FBBCC2-A0B6-4BF1-A33E-FF86F5B8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004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Rejected unsafe slots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952C08-8BBB-4408-B169-ED8C2EED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57DEE1-8B5B-45BA-A11D-17C44B95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4330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D242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2421"/>
                </a:solidFill>
                <a:latin typeface="Arial"/>
                <a:ea typeface="Arial"/>
                <a:cs typeface="Arial"/>
              </a:rPr>
              <a:t>Sent one reply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EAB6C2-2B6E-4A34-B8C0-CC50E18C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WORKING STACK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384448-68DF-4C3B-A2A7-84F74233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Python · FastAPI · Next.js · LangGraph · AWS Bedrock · OR-Tools · SQLite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913863-B113-49BE-9830-04000E29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Every tool result is persisted. The panel is evidence from the run, not a generated explanation of what might have happened.</a:t>
            </a:r>
          </a:p>
        </p:txBody>
      </p:sp>
    </p:spTree>
    <p:extLst>
      <p:ext uri="{BB962C8B-B14F-4D97-AF65-F5344CB8AC3E}">
        <p14:creationId xmlns:p14="http://schemas.microsoft.com/office/powerpoint/2010/main" val="15420046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E2E95B-5A10-4425-9729-DD6F2635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22168F-75C5-4F19-9D7E-4EBBA8E5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9575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EAC67-658B-4B8D-85EE-D9F3135E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WHAT CHANGES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93E2D-24EB-4EE5-8241-EC9B35DB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BENEFITS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705E5-95E5-4765-BEBF-78DF4B51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8DC40-FD12-4179-A280-AE6C13C0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Dispatch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9EAC2-437C-45B4-A28D-C244CCA6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4960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6C041-61B1-441C-9900-61E26273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287000" cy="1073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1D2421"/>
                </a:solidFill>
                <a:latin typeface="Georgia"/>
                <a:ea typeface="Georgia"/>
                <a:cs typeface="Georgia"/>
              </a:defRPr>
            </a:pPr>
            <a:r>
              <a:rPr sz="3450" b="0">
                <a:solidFill>
                  <a:srgbClr val="1D2421"/>
                </a:solidFill>
                <a:latin typeface="Georgia"/>
                <a:ea typeface="Georgia"/>
                <a:cs typeface="Georgia"/>
              </a:rPr>
              <a:t>An afternoon of texting becomes something that answers itself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3D5D7-6D5C-410D-9BFB-130C18D9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E878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E8782"/>
                </a:solidFill>
                <a:latin typeface="Arial"/>
                <a:ea typeface="Arial"/>
                <a:cs typeface="Arial"/>
              </a:rPr>
              <a:t>BY HAND TODAY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BAF30-B10F-409F-B18F-A67ED445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WITH DISPATCH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15560-11F5-457B-837C-A98ED0E6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80BD84-6D15-49D8-86BB-E7B75DD1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Chase dozens of replies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B43D2-7BF1-4705-BA49-FBC3D3FE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574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92F273-8CE7-4B03-AC5E-563C73D7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0ECC53-FE1C-4093-AFD5-AB024FAE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Answer each customer as they reply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CD94C5-3B2B-4B27-9E7B-07E24E7E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C3F77-84F5-45CC-B129-1DB634B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A rejection starts another manual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65E81-9077-4B70-8AD8-854AB93B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860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125290-B926-44F1-B756-4E9C622D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1940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7343A-A0E0-4A20-964F-8889957E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Exclude it and replan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275BD6-8212-466B-B641-73909FB5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4805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7DFCBB-F424-486C-9580-3978AC94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The plan lives in one person’s 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DA99B4-D773-4452-958E-F74F28B4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147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A8A415-8448-4C31-81AE-83BCE42D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4805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58695F-DD5A-4DB1-BF21-0BDD87DC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Every decision remains inspectable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A9BDE0-4AA8-4E79-A2DB-412A05E5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5143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2309BD-AD18-43D7-B0BF-B3675D5F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5E"/>
                </a:solidFill>
                <a:latin typeface="Arial"/>
                <a:ea typeface="Arial"/>
                <a:cs typeface="Arial"/>
              </a:rPr>
              <a:t>Drivers reconcile times on the road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37F6CD-338A-4042-82DB-5A197D36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433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37A5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7A5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635E1-77C4-4ACD-9DCC-06C71317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76700"/>
            <a:ext cx="523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0">
            <a:solidFill>
              <a:srgbClr val="E8F2EC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3D3961-91A4-4D55-B3F3-F3C97E95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67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57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73E"/>
                </a:solidFill>
                <a:latin typeface="Arial"/>
                <a:ea typeface="Arial"/>
                <a:cs typeface="Arial"/>
              </a:rPr>
              <a:t>Publish a route from accepted promises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A7D208-D9F3-4A23-8216-F4A313D4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10680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D2421"/>
          </a:solidFill>
          <a:ln xmlns:a="http://schemas.openxmlformats.org/drawingml/2006/main" w="0">
            <a:solidFill>
              <a:srgbClr val="1D242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593E0C-5D97-4415-A4A1-414F1E3B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confirmed customer accepts the time.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route is built from accepted promises.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AB0F9C-F042-49F3-BA50-F622B171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816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DCE6E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CE6E0"/>
                </a:solidFill>
                <a:latin typeface="Arial"/>
                <a:ea typeface="Arial"/>
                <a:cs typeface="Arial"/>
              </a:rPr>
              <a:t>Unresolved cases go to the coordinator.</a:t>
            </a:r>
          </a:p>
        </p:txBody>
      </p:sp>
    </p:spTree>
    <p:extLst>
      <p:ext uri="{BB962C8B-B14F-4D97-AF65-F5344CB8AC3E}">
        <p14:creationId xmlns:p14="http://schemas.microsoft.com/office/powerpoint/2010/main" val="17357542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2026-09-06T14:05:30.0530000Z</dcterms:created>
  <dcterms:modified xsi:type="dcterms:W3CDTF">2026-09-06T14:05:30.0530000Z</dcterms:modified>
</coreProperties>
</file>